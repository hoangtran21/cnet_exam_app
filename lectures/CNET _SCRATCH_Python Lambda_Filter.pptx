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70" r:id="rId4"/>
    <p:sldId id="272" r:id="rId5"/>
    <p:sldId id="273" r:id="rId6"/>
    <p:sldId id="274" r:id="rId7"/>
    <p:sldId id="275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608" autoAdjust="0"/>
    <p:restoredTop sz="94660"/>
  </p:normalViewPr>
  <p:slideViewPr>
    <p:cSldViewPr snapToGrid="0">
      <p:cViewPr varScale="1">
        <p:scale>
          <a:sx n="82" d="100"/>
          <a:sy n="82" d="100"/>
        </p:scale>
        <p:origin x="965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</p:spPr>
        <p:txBody>
          <a:bodyPr/>
          <a:lstStyle/>
          <a:p>
            <a:fld id="{B61BEF0D-F0BB-DE4B-95CE-6DB70DBA9567}" type="datetimeFigureOut">
              <a:rPr lang="en-US" dirty="0"/>
              <a:pPr/>
              <a:t>3/10/2026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 anchor="b"/>
          <a:lstStyle>
            <a:lvl1pPr algn="l">
              <a:defRPr sz="40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7381"/>
            <a:ext cx="1013142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3649134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21895" y="2142067"/>
            <a:ext cx="4995332" cy="3649133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3670" y="2218267"/>
            <a:ext cx="470905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1" y="2870201"/>
            <a:ext cx="4996923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96003" y="2226734"/>
            <a:ext cx="4722813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23483" y="2870201"/>
            <a:ext cx="4995334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3/10/2026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3/10/2026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3/10/2026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1" y="609601"/>
            <a:ext cx="6169026" cy="5181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445933"/>
            <a:ext cx="3680885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2971800"/>
            <a:ext cx="6164653" cy="1828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299603"/>
            <a:ext cx="10131427" cy="49371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97875" y="3352800"/>
            <a:ext cx="9339184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465" y="4343400"/>
            <a:ext cx="10152367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4777381"/>
            <a:ext cx="10131426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5200"/>
            <a:ext cx="10135436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8675" y="609599"/>
            <a:ext cx="2158552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7832116" cy="5181600"/>
          </a:xfrm>
        </p:spPr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3/10/2026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7" r:id="rId10"/>
    <p:sldLayoutId id="2147483663" r:id="rId11"/>
    <p:sldLayoutId id="2147483664" r:id="rId12"/>
    <p:sldLayoutId id="2147483665" r:id="rId13"/>
    <p:sldLayoutId id="2147483668" r:id="rId14"/>
    <p:sldLayoutId id="2147483667" r:id="rId15"/>
    <p:sldLayoutId id="2147483658" r:id="rId16"/>
    <p:sldLayoutId id="2147483659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/>
              <a:t>LẬP TRÌNH PYTHON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1"/>
              <a:t>CON ĐƯỜNG TRỞ THÀNH LẬP TRÌNH VIÊN PYTHON CHUYÊN NGHIỆP</a:t>
            </a:r>
          </a:p>
        </p:txBody>
      </p:sp>
    </p:spTree>
    <p:extLst>
      <p:ext uri="{BB962C8B-B14F-4D97-AF65-F5344CB8AC3E}">
        <p14:creationId xmlns:p14="http://schemas.microsoft.com/office/powerpoint/2010/main" val="1218650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385158"/>
            <a:ext cx="10131425" cy="725186"/>
          </a:xfrm>
        </p:spPr>
        <p:txBody>
          <a:bodyPr/>
          <a:lstStyle/>
          <a:p>
            <a:r>
              <a:rPr lang="en-US" b="1" dirty="0" err="1"/>
              <a:t>Hàm</a:t>
            </a:r>
            <a:r>
              <a:rPr lang="en-US" b="1" dirty="0"/>
              <a:t> Lambda	(</a:t>
            </a:r>
            <a:r>
              <a:rPr lang="en-US" b="1" dirty="0" err="1"/>
              <a:t>Hàm</a:t>
            </a:r>
            <a:r>
              <a:rPr lang="en-US" b="1" dirty="0"/>
              <a:t> </a:t>
            </a:r>
            <a:r>
              <a:rPr lang="en-US" b="1" dirty="0" err="1"/>
              <a:t>ẩn</a:t>
            </a:r>
            <a:r>
              <a:rPr lang="en-US" b="1" dirty="0"/>
              <a:t> </a:t>
            </a:r>
            <a:r>
              <a:rPr lang="en-US" b="1" dirty="0" err="1"/>
              <a:t>danh</a:t>
            </a:r>
            <a:r>
              <a:rPr lang="en-US" b="1" dirty="0"/>
              <a:t>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2" y="1110345"/>
            <a:ext cx="6799216" cy="5610418"/>
          </a:xfrm>
        </p:spPr>
        <p:txBody>
          <a:bodyPr anchor="t" anchorCtr="0">
            <a:normAutofit/>
          </a:bodyPr>
          <a:lstStyle/>
          <a:p>
            <a:r>
              <a:rPr lang="en-US" dirty="0">
                <a:latin typeface="Calibri (Body)"/>
              </a:rPr>
              <a:t>Lambda </a:t>
            </a:r>
            <a:r>
              <a:rPr lang="en-US" dirty="0" err="1">
                <a:latin typeface="Calibri (Body)"/>
              </a:rPr>
              <a:t>là</a:t>
            </a:r>
            <a:r>
              <a:rPr lang="en-US" dirty="0">
                <a:latin typeface="Calibri (Body)"/>
              </a:rPr>
              <a:t> </a:t>
            </a:r>
            <a:r>
              <a:rPr lang="en-US" dirty="0" err="1">
                <a:latin typeface="Calibri (Body)"/>
              </a:rPr>
              <a:t>một</a:t>
            </a:r>
            <a:r>
              <a:rPr lang="en-US" dirty="0">
                <a:latin typeface="Calibri (Body)"/>
              </a:rPr>
              <a:t> </a:t>
            </a:r>
            <a:r>
              <a:rPr lang="en-US" dirty="0" err="1">
                <a:latin typeface="Calibri (Body)"/>
              </a:rPr>
              <a:t>hàm</a:t>
            </a:r>
            <a:r>
              <a:rPr lang="en-US" dirty="0">
                <a:latin typeface="Calibri (Body)"/>
              </a:rPr>
              <a:t> </a:t>
            </a:r>
            <a:r>
              <a:rPr lang="en-US" dirty="0" err="1">
                <a:latin typeface="Calibri (Body)"/>
              </a:rPr>
              <a:t>ngắn</a:t>
            </a:r>
            <a:r>
              <a:rPr lang="en-US" dirty="0">
                <a:latin typeface="Calibri (Body)"/>
              </a:rPr>
              <a:t> </a:t>
            </a:r>
            <a:r>
              <a:rPr lang="en-US" dirty="0" err="1">
                <a:latin typeface="Calibri (Body)"/>
              </a:rPr>
              <a:t>gọn</a:t>
            </a:r>
            <a:r>
              <a:rPr lang="en-US" dirty="0">
                <a:latin typeface="Calibri (Body)"/>
              </a:rPr>
              <a:t>, </a:t>
            </a:r>
            <a:r>
              <a:rPr lang="en-US" dirty="0" err="1">
                <a:latin typeface="Calibri (Body)"/>
              </a:rPr>
              <a:t>không</a:t>
            </a:r>
            <a:r>
              <a:rPr lang="en-US" dirty="0">
                <a:latin typeface="Calibri (Body)"/>
              </a:rPr>
              <a:t> </a:t>
            </a:r>
            <a:r>
              <a:rPr lang="en-US" dirty="0" err="1">
                <a:latin typeface="Calibri (Body)"/>
              </a:rPr>
              <a:t>cần</a:t>
            </a:r>
            <a:r>
              <a:rPr lang="en-US" dirty="0">
                <a:latin typeface="Calibri (Body)"/>
              </a:rPr>
              <a:t> </a:t>
            </a:r>
            <a:r>
              <a:rPr lang="en-US" dirty="0" err="1">
                <a:latin typeface="Calibri (Body)"/>
              </a:rPr>
              <a:t>đặt</a:t>
            </a:r>
            <a:r>
              <a:rPr lang="en-US" dirty="0">
                <a:latin typeface="Calibri (Body)"/>
              </a:rPr>
              <a:t> </a:t>
            </a:r>
            <a:r>
              <a:rPr lang="en-US" dirty="0" err="1">
                <a:latin typeface="Calibri (Body)"/>
              </a:rPr>
              <a:t>tên</a:t>
            </a:r>
            <a:r>
              <a:rPr lang="en-US" dirty="0">
                <a:latin typeface="Calibri (Body)"/>
              </a:rPr>
              <a:t>.</a:t>
            </a:r>
          </a:p>
          <a:p>
            <a:r>
              <a:rPr lang="en-US" dirty="0" err="1">
                <a:latin typeface="Calibri (Body)"/>
              </a:rPr>
              <a:t>Thường</a:t>
            </a:r>
            <a:r>
              <a:rPr lang="en-US" dirty="0">
                <a:latin typeface="Calibri (Body)"/>
              </a:rPr>
              <a:t> </a:t>
            </a:r>
            <a:r>
              <a:rPr lang="en-US" dirty="0" err="1">
                <a:latin typeface="Calibri (Body)"/>
              </a:rPr>
              <a:t>dùng</a:t>
            </a:r>
            <a:r>
              <a:rPr lang="en-US" dirty="0">
                <a:latin typeface="Calibri (Body)"/>
              </a:rPr>
              <a:t> </a:t>
            </a:r>
            <a:r>
              <a:rPr lang="en-US" dirty="0" err="1">
                <a:latin typeface="Calibri (Body)"/>
              </a:rPr>
              <a:t>khi</a:t>
            </a:r>
            <a:r>
              <a:rPr lang="en-US" dirty="0">
                <a:latin typeface="Calibri (Body)"/>
              </a:rPr>
              <a:t> ta </a:t>
            </a:r>
            <a:r>
              <a:rPr lang="en-US" dirty="0" err="1">
                <a:latin typeface="Calibri (Body)"/>
              </a:rPr>
              <a:t>cần</a:t>
            </a:r>
            <a:r>
              <a:rPr lang="en-US" dirty="0">
                <a:latin typeface="Calibri (Body)"/>
              </a:rPr>
              <a:t> </a:t>
            </a:r>
            <a:r>
              <a:rPr lang="en-US" dirty="0" err="1">
                <a:latin typeface="Calibri (Body)"/>
              </a:rPr>
              <a:t>một</a:t>
            </a:r>
            <a:r>
              <a:rPr lang="en-US" dirty="0">
                <a:latin typeface="Calibri (Body)"/>
              </a:rPr>
              <a:t> </a:t>
            </a:r>
            <a:r>
              <a:rPr lang="en-US" dirty="0" err="1">
                <a:latin typeface="Calibri (Body)"/>
              </a:rPr>
              <a:t>hàm</a:t>
            </a:r>
            <a:r>
              <a:rPr lang="en-US" dirty="0">
                <a:latin typeface="Calibri (Body)"/>
              </a:rPr>
              <a:t> </a:t>
            </a:r>
            <a:r>
              <a:rPr lang="en-US" dirty="0" err="1">
                <a:latin typeface="Calibri (Body)"/>
              </a:rPr>
              <a:t>đơn</a:t>
            </a:r>
            <a:r>
              <a:rPr lang="en-US" dirty="0">
                <a:latin typeface="Calibri (Body)"/>
              </a:rPr>
              <a:t> </a:t>
            </a:r>
            <a:r>
              <a:rPr lang="en-US" dirty="0" err="1">
                <a:latin typeface="Calibri (Body)"/>
              </a:rPr>
              <a:t>giản</a:t>
            </a:r>
            <a:r>
              <a:rPr lang="en-US" dirty="0">
                <a:latin typeface="Calibri (Body)"/>
              </a:rPr>
              <a:t> </a:t>
            </a:r>
            <a:r>
              <a:rPr lang="en-US" dirty="0" err="1">
                <a:latin typeface="Calibri (Body)"/>
              </a:rPr>
              <a:t>trong</a:t>
            </a:r>
            <a:r>
              <a:rPr lang="en-US" dirty="0">
                <a:latin typeface="Calibri (Body)"/>
              </a:rPr>
              <a:t> </a:t>
            </a:r>
            <a:r>
              <a:rPr lang="en-US" dirty="0" err="1">
                <a:latin typeface="Calibri (Body)"/>
              </a:rPr>
              <a:t>một</a:t>
            </a:r>
            <a:r>
              <a:rPr lang="en-US" dirty="0">
                <a:latin typeface="Calibri (Body)"/>
              </a:rPr>
              <a:t> </a:t>
            </a:r>
            <a:r>
              <a:rPr lang="en-US" dirty="0" err="1">
                <a:latin typeface="Calibri (Body)"/>
              </a:rPr>
              <a:t>dòng</a:t>
            </a:r>
            <a:r>
              <a:rPr lang="en-US" dirty="0">
                <a:latin typeface="Calibri (Body)"/>
              </a:rPr>
              <a:t> code.</a:t>
            </a:r>
          </a:p>
          <a:p>
            <a:r>
              <a:rPr lang="en-US" dirty="0">
                <a:latin typeface="Calibri (Body)"/>
              </a:rPr>
              <a:t>Cú </a:t>
            </a:r>
            <a:r>
              <a:rPr lang="en-US" dirty="0" err="1">
                <a:latin typeface="Calibri (Body)"/>
              </a:rPr>
              <a:t>pháp</a:t>
            </a:r>
            <a:r>
              <a:rPr lang="en-US" dirty="0">
                <a:latin typeface="Calibri (Body)"/>
              </a:rPr>
              <a:t> lambda </a:t>
            </a:r>
            <a:r>
              <a:rPr lang="en-US" dirty="0" err="1">
                <a:latin typeface="Calibri (Body)"/>
              </a:rPr>
              <a:t>đối</a:t>
            </a:r>
            <a:r>
              <a:rPr lang="en-US" dirty="0">
                <a:latin typeface="Calibri (Body)"/>
              </a:rPr>
              <a:t> </a:t>
            </a:r>
            <a:r>
              <a:rPr lang="en-US" dirty="0" err="1">
                <a:latin typeface="Calibri (Body)"/>
              </a:rPr>
              <a:t>số</a:t>
            </a:r>
            <a:r>
              <a:rPr lang="en-US" dirty="0">
                <a:latin typeface="Calibri (Body)"/>
              </a:rPr>
              <a:t>: </a:t>
            </a:r>
            <a:r>
              <a:rPr lang="en-US" dirty="0" err="1">
                <a:latin typeface="Calibri (Body)"/>
              </a:rPr>
              <a:t>biểu</a:t>
            </a:r>
            <a:r>
              <a:rPr lang="en-US" dirty="0">
                <a:latin typeface="Calibri (Body)"/>
              </a:rPr>
              <a:t> </a:t>
            </a:r>
            <a:r>
              <a:rPr lang="en-US" dirty="0" err="1">
                <a:latin typeface="Calibri (Body)"/>
              </a:rPr>
              <a:t>thức</a:t>
            </a:r>
            <a:r>
              <a:rPr lang="en-US" dirty="0">
                <a:latin typeface="Calibri (Body)"/>
              </a:rPr>
              <a:t>.</a:t>
            </a:r>
          </a:p>
          <a:p>
            <a:r>
              <a:rPr lang="en-US" dirty="0" err="1">
                <a:latin typeface="Calibri (Body)"/>
              </a:rPr>
              <a:t>Đặc</a:t>
            </a:r>
            <a:r>
              <a:rPr lang="en-US" dirty="0">
                <a:latin typeface="Calibri (Body)"/>
              </a:rPr>
              <a:t> </a:t>
            </a:r>
            <a:r>
              <a:rPr lang="en-US" dirty="0" err="1">
                <a:latin typeface="Calibri (Body)"/>
              </a:rPr>
              <a:t>điểm</a:t>
            </a:r>
            <a:r>
              <a:rPr lang="en-US" dirty="0">
                <a:latin typeface="Calibri (Body)"/>
              </a:rPr>
              <a:t>:</a:t>
            </a:r>
          </a:p>
          <a:p>
            <a:pPr lvl="1"/>
            <a:r>
              <a:rPr lang="en-US" dirty="0" err="1">
                <a:latin typeface="Calibri (Body)"/>
              </a:rPr>
              <a:t>Có</a:t>
            </a:r>
            <a:r>
              <a:rPr lang="en-US" dirty="0">
                <a:latin typeface="Calibri (Body)"/>
              </a:rPr>
              <a:t> </a:t>
            </a:r>
            <a:r>
              <a:rPr lang="en-US" dirty="0" err="1">
                <a:latin typeface="Calibri (Body)"/>
              </a:rPr>
              <a:t>thể</a:t>
            </a:r>
            <a:r>
              <a:rPr lang="en-US" dirty="0">
                <a:latin typeface="Calibri (Body)"/>
              </a:rPr>
              <a:t> </a:t>
            </a:r>
            <a:r>
              <a:rPr lang="en-US" dirty="0" err="1">
                <a:latin typeface="Calibri (Body)"/>
              </a:rPr>
              <a:t>nhận</a:t>
            </a:r>
            <a:r>
              <a:rPr lang="en-US" dirty="0">
                <a:latin typeface="Calibri (Body)"/>
              </a:rPr>
              <a:t> </a:t>
            </a:r>
            <a:r>
              <a:rPr lang="en-US" dirty="0" err="1">
                <a:latin typeface="Calibri (Body)"/>
              </a:rPr>
              <a:t>nhiều</a:t>
            </a:r>
            <a:r>
              <a:rPr lang="en-US" dirty="0">
                <a:latin typeface="Calibri (Body)"/>
              </a:rPr>
              <a:t> </a:t>
            </a:r>
            <a:r>
              <a:rPr lang="en-US" dirty="0" err="1">
                <a:latin typeface="Calibri (Body)"/>
              </a:rPr>
              <a:t>tham</a:t>
            </a:r>
            <a:r>
              <a:rPr lang="en-US" dirty="0">
                <a:latin typeface="Calibri (Body)"/>
              </a:rPr>
              <a:t> </a:t>
            </a:r>
            <a:r>
              <a:rPr lang="en-US" dirty="0" err="1">
                <a:latin typeface="Calibri (Body)"/>
              </a:rPr>
              <a:t>số</a:t>
            </a:r>
            <a:endParaRPr lang="en-US" dirty="0">
              <a:latin typeface="Calibri (Body)"/>
            </a:endParaRPr>
          </a:p>
          <a:p>
            <a:pPr lvl="1"/>
            <a:r>
              <a:rPr lang="en-US" dirty="0" err="1">
                <a:latin typeface="Calibri (Body)"/>
              </a:rPr>
              <a:t>Chỉ</a:t>
            </a:r>
            <a:r>
              <a:rPr lang="en-US" dirty="0">
                <a:latin typeface="Calibri (Body)"/>
              </a:rPr>
              <a:t> </a:t>
            </a:r>
            <a:r>
              <a:rPr lang="en-US" dirty="0" err="1">
                <a:latin typeface="Calibri (Body)"/>
              </a:rPr>
              <a:t>có</a:t>
            </a:r>
            <a:r>
              <a:rPr lang="en-US" dirty="0">
                <a:latin typeface="Calibri (Body)"/>
              </a:rPr>
              <a:t> </a:t>
            </a:r>
            <a:r>
              <a:rPr lang="en-US" dirty="0" err="1">
                <a:latin typeface="Calibri (Body)"/>
              </a:rPr>
              <a:t>một</a:t>
            </a:r>
            <a:r>
              <a:rPr lang="en-US" dirty="0">
                <a:latin typeface="Calibri (Body)"/>
              </a:rPr>
              <a:t> </a:t>
            </a:r>
            <a:r>
              <a:rPr lang="en-US" dirty="0" err="1">
                <a:latin typeface="Calibri (Body)"/>
              </a:rPr>
              <a:t>biểu</a:t>
            </a:r>
            <a:r>
              <a:rPr lang="en-US" dirty="0">
                <a:latin typeface="Calibri (Body)"/>
              </a:rPr>
              <a:t> </a:t>
            </a:r>
            <a:r>
              <a:rPr lang="en-US" dirty="0" err="1">
                <a:latin typeface="Calibri (Body)"/>
              </a:rPr>
              <a:t>thức</a:t>
            </a:r>
            <a:r>
              <a:rPr lang="en-US" dirty="0">
                <a:latin typeface="Calibri (Body)"/>
              </a:rPr>
              <a:t> </a:t>
            </a:r>
            <a:r>
              <a:rPr lang="en-US" dirty="0" err="1">
                <a:latin typeface="Calibri (Body)"/>
              </a:rPr>
              <a:t>tham</a:t>
            </a:r>
            <a:r>
              <a:rPr lang="en-US" dirty="0">
                <a:latin typeface="Calibri (Body)"/>
              </a:rPr>
              <a:t> </a:t>
            </a:r>
            <a:r>
              <a:rPr lang="en-US" dirty="0" err="1">
                <a:latin typeface="Calibri (Body)"/>
              </a:rPr>
              <a:t>số</a:t>
            </a:r>
            <a:r>
              <a:rPr lang="en-US" dirty="0">
                <a:latin typeface="Calibri (Body)"/>
              </a:rPr>
              <a:t> </a:t>
            </a:r>
            <a:r>
              <a:rPr lang="en-US" dirty="0" err="1">
                <a:latin typeface="Calibri (Body)"/>
              </a:rPr>
              <a:t>duy</a:t>
            </a:r>
            <a:r>
              <a:rPr lang="en-US" dirty="0">
                <a:latin typeface="Calibri (Body)"/>
              </a:rPr>
              <a:t> </a:t>
            </a:r>
            <a:r>
              <a:rPr lang="en-US" dirty="0" err="1">
                <a:latin typeface="Calibri (Body)"/>
              </a:rPr>
              <a:t>nhất</a:t>
            </a:r>
            <a:endParaRPr lang="en-US" dirty="0">
              <a:latin typeface="Calibri (Body)"/>
            </a:endParaRPr>
          </a:p>
          <a:p>
            <a:pPr lvl="1"/>
            <a:r>
              <a:rPr lang="en-US" dirty="0" err="1">
                <a:latin typeface="Calibri (Body)"/>
              </a:rPr>
              <a:t>Tự</a:t>
            </a:r>
            <a:r>
              <a:rPr lang="en-US" dirty="0">
                <a:latin typeface="Calibri (Body)"/>
              </a:rPr>
              <a:t> </a:t>
            </a:r>
            <a:r>
              <a:rPr lang="en-US" dirty="0" err="1">
                <a:latin typeface="Calibri (Body)"/>
              </a:rPr>
              <a:t>động</a:t>
            </a:r>
            <a:r>
              <a:rPr lang="en-US" dirty="0">
                <a:latin typeface="Calibri (Body)"/>
              </a:rPr>
              <a:t> </a:t>
            </a:r>
            <a:r>
              <a:rPr lang="en-US" dirty="0" err="1">
                <a:latin typeface="Calibri (Body)"/>
              </a:rPr>
              <a:t>trả</a:t>
            </a:r>
            <a:r>
              <a:rPr lang="en-US" dirty="0">
                <a:latin typeface="Calibri (Body)"/>
              </a:rPr>
              <a:t> </a:t>
            </a:r>
            <a:r>
              <a:rPr lang="en-US" dirty="0" err="1">
                <a:latin typeface="Calibri (Body)"/>
              </a:rPr>
              <a:t>về</a:t>
            </a:r>
            <a:r>
              <a:rPr lang="en-US" dirty="0">
                <a:latin typeface="Calibri (Body)"/>
              </a:rPr>
              <a:t> </a:t>
            </a:r>
            <a:r>
              <a:rPr lang="en-US" dirty="0" err="1">
                <a:latin typeface="Calibri (Body)"/>
              </a:rPr>
              <a:t>kết</a:t>
            </a:r>
            <a:r>
              <a:rPr lang="en-US" dirty="0">
                <a:latin typeface="Calibri (Body)"/>
              </a:rPr>
              <a:t> </a:t>
            </a:r>
            <a:r>
              <a:rPr lang="en-US" dirty="0" err="1">
                <a:latin typeface="Calibri (Body)"/>
              </a:rPr>
              <a:t>quả</a:t>
            </a:r>
            <a:r>
              <a:rPr lang="en-US" dirty="0">
                <a:latin typeface="Calibri (Body)"/>
              </a:rPr>
              <a:t> </a:t>
            </a:r>
            <a:r>
              <a:rPr lang="en-US" dirty="0" err="1">
                <a:latin typeface="Calibri (Body)"/>
              </a:rPr>
              <a:t>của</a:t>
            </a:r>
            <a:r>
              <a:rPr lang="en-US" dirty="0">
                <a:latin typeface="Calibri (Body)"/>
              </a:rPr>
              <a:t> </a:t>
            </a:r>
            <a:r>
              <a:rPr lang="en-US" dirty="0" err="1">
                <a:latin typeface="Calibri (Body)"/>
              </a:rPr>
              <a:t>biểu</a:t>
            </a:r>
            <a:r>
              <a:rPr lang="en-US" dirty="0">
                <a:latin typeface="Calibri (Body)"/>
              </a:rPr>
              <a:t> </a:t>
            </a:r>
            <a:r>
              <a:rPr lang="en-US" dirty="0" err="1">
                <a:latin typeface="Calibri (Body)"/>
              </a:rPr>
              <a:t>thức</a:t>
            </a:r>
            <a:r>
              <a:rPr lang="en-US" dirty="0">
                <a:latin typeface="Calibri (Body)"/>
              </a:rPr>
              <a:t> </a:t>
            </a:r>
            <a:r>
              <a:rPr lang="en-US" dirty="0" err="1">
                <a:latin typeface="Calibri (Body)"/>
              </a:rPr>
              <a:t>đó</a:t>
            </a:r>
            <a:r>
              <a:rPr lang="en-US" dirty="0">
                <a:latin typeface="Calibri (Body)"/>
              </a:rPr>
              <a:t>.</a:t>
            </a:r>
          </a:p>
          <a:p>
            <a:endParaRPr lang="en-US" dirty="0">
              <a:latin typeface="Calibri (Body)"/>
            </a:endParaRPr>
          </a:p>
        </p:txBody>
      </p:sp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AA5FB6B-933B-9FE9-6474-8C2EDA96D5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59878" y="2233532"/>
            <a:ext cx="6513826" cy="4092317"/>
          </a:xfrm>
          <a:prstGeom prst="rect">
            <a:avLst/>
          </a:prstGeom>
        </p:spPr>
      </p:pic>
      <p:sp>
        <p:nvSpPr>
          <p:cNvPr id="7" name="AutoShape 2">
            <a:extLst>
              <a:ext uri="{FF2B5EF4-FFF2-40B4-BE49-F238E27FC236}">
                <a16:creationId xmlns:a16="http://schemas.microsoft.com/office/drawing/2014/main" id="{05C77A88-D4C9-716D-C6D2-6FBA44613D8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0A0ECD8-046B-27E8-48E8-2565198C6D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192" y="3954495"/>
            <a:ext cx="3777521" cy="25183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60850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385158"/>
            <a:ext cx="10131425" cy="725186"/>
          </a:xfrm>
        </p:spPr>
        <p:txBody>
          <a:bodyPr/>
          <a:lstStyle/>
          <a:p>
            <a:r>
              <a:rPr lang="en-US" b="1" dirty="0"/>
              <a:t>Filter() </a:t>
            </a:r>
            <a:r>
              <a:rPr lang="en-US" b="1" dirty="0" err="1"/>
              <a:t>trong</a:t>
            </a:r>
            <a:r>
              <a:rPr lang="en-US" b="1" dirty="0"/>
              <a:t> python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2" y="1110345"/>
            <a:ext cx="8941524" cy="5610418"/>
          </a:xfrm>
        </p:spPr>
        <p:txBody>
          <a:bodyPr anchor="t" anchorCtr="0">
            <a:normAutofit/>
          </a:bodyPr>
          <a:lstStyle/>
          <a:p>
            <a:r>
              <a:rPr lang="en-US" dirty="0">
                <a:latin typeface="Calibri (Body)"/>
              </a:rPr>
              <a:t>Filter </a:t>
            </a:r>
            <a:r>
              <a:rPr lang="en-US" dirty="0" err="1">
                <a:latin typeface="Calibri (Body)"/>
              </a:rPr>
              <a:t>dùng</a:t>
            </a:r>
            <a:r>
              <a:rPr lang="en-US" dirty="0">
                <a:latin typeface="Calibri (Body)"/>
              </a:rPr>
              <a:t> </a:t>
            </a:r>
            <a:r>
              <a:rPr lang="en-US" dirty="0" err="1">
                <a:latin typeface="Calibri (Body)"/>
              </a:rPr>
              <a:t>để</a:t>
            </a:r>
            <a:r>
              <a:rPr lang="en-US" dirty="0">
                <a:latin typeface="Calibri (Body)"/>
              </a:rPr>
              <a:t> </a:t>
            </a:r>
            <a:r>
              <a:rPr lang="en-US" dirty="0" err="1">
                <a:latin typeface="Calibri (Body)"/>
              </a:rPr>
              <a:t>lọc</a:t>
            </a:r>
            <a:r>
              <a:rPr lang="en-US" dirty="0">
                <a:latin typeface="Calibri (Body)"/>
              </a:rPr>
              <a:t> </a:t>
            </a:r>
            <a:r>
              <a:rPr lang="en-US" dirty="0" err="1">
                <a:latin typeface="Calibri (Body)"/>
              </a:rPr>
              <a:t>các</a:t>
            </a:r>
            <a:r>
              <a:rPr lang="en-US" dirty="0">
                <a:latin typeface="Calibri (Body)"/>
              </a:rPr>
              <a:t> </a:t>
            </a:r>
            <a:r>
              <a:rPr lang="en-US" dirty="0" err="1">
                <a:latin typeface="Calibri (Body)"/>
              </a:rPr>
              <a:t>phần</a:t>
            </a:r>
            <a:r>
              <a:rPr lang="en-US" dirty="0">
                <a:latin typeface="Calibri (Body)"/>
              </a:rPr>
              <a:t> </a:t>
            </a:r>
            <a:r>
              <a:rPr lang="en-US" dirty="0" err="1">
                <a:latin typeface="Calibri (Body)"/>
              </a:rPr>
              <a:t>tử</a:t>
            </a:r>
            <a:r>
              <a:rPr lang="en-US" dirty="0">
                <a:latin typeface="Calibri (Body)"/>
              </a:rPr>
              <a:t> </a:t>
            </a:r>
            <a:r>
              <a:rPr lang="en-US" dirty="0" err="1">
                <a:latin typeface="Calibri (Body)"/>
              </a:rPr>
              <a:t>trong</a:t>
            </a:r>
            <a:r>
              <a:rPr lang="en-US" dirty="0">
                <a:latin typeface="Calibri (Body)"/>
              </a:rPr>
              <a:t> </a:t>
            </a:r>
            <a:r>
              <a:rPr lang="en-US" dirty="0" err="1">
                <a:latin typeface="Calibri (Body)"/>
              </a:rPr>
              <a:t>một</a:t>
            </a:r>
            <a:r>
              <a:rPr lang="en-US" dirty="0">
                <a:latin typeface="Calibri (Body)"/>
              </a:rPr>
              <a:t> </a:t>
            </a:r>
            <a:r>
              <a:rPr lang="en-US" dirty="0" err="1">
                <a:latin typeface="Calibri (Body)"/>
              </a:rPr>
              <a:t>danh</a:t>
            </a:r>
            <a:r>
              <a:rPr lang="en-US" dirty="0">
                <a:latin typeface="Calibri (Body)"/>
              </a:rPr>
              <a:t> </a:t>
            </a:r>
            <a:r>
              <a:rPr lang="en-US" dirty="0" err="1">
                <a:latin typeface="Calibri (Body)"/>
              </a:rPr>
              <a:t>sách</a:t>
            </a:r>
            <a:r>
              <a:rPr lang="en-US" dirty="0">
                <a:latin typeface="Calibri (Body)"/>
              </a:rPr>
              <a:t> (list, tuple, set). </a:t>
            </a:r>
            <a:r>
              <a:rPr lang="en-US" dirty="0" err="1">
                <a:latin typeface="Calibri (Body)"/>
              </a:rPr>
              <a:t>Chỉ</a:t>
            </a:r>
            <a:r>
              <a:rPr lang="en-US" dirty="0">
                <a:latin typeface="Calibri (Body)"/>
              </a:rPr>
              <a:t> </a:t>
            </a:r>
            <a:r>
              <a:rPr lang="en-US" dirty="0" err="1">
                <a:latin typeface="Calibri (Body)"/>
              </a:rPr>
              <a:t>giữ</a:t>
            </a:r>
            <a:r>
              <a:rPr lang="en-US" dirty="0">
                <a:latin typeface="Calibri (Body)"/>
              </a:rPr>
              <a:t> </a:t>
            </a:r>
            <a:r>
              <a:rPr lang="en-US" dirty="0" err="1">
                <a:latin typeface="Calibri (Body)"/>
              </a:rPr>
              <a:t>lại</a:t>
            </a:r>
            <a:r>
              <a:rPr lang="en-US" dirty="0">
                <a:latin typeface="Calibri (Body)"/>
              </a:rPr>
              <a:t> </a:t>
            </a:r>
            <a:r>
              <a:rPr lang="en-US" dirty="0" err="1">
                <a:latin typeface="Calibri (Body)"/>
              </a:rPr>
              <a:t>những</a:t>
            </a:r>
            <a:r>
              <a:rPr lang="en-US" dirty="0">
                <a:latin typeface="Calibri (Body)"/>
              </a:rPr>
              <a:t> </a:t>
            </a:r>
            <a:r>
              <a:rPr lang="en-US" dirty="0" err="1">
                <a:latin typeface="Calibri (Body)"/>
              </a:rPr>
              <a:t>phần</a:t>
            </a:r>
            <a:r>
              <a:rPr lang="en-US" dirty="0">
                <a:latin typeface="Calibri (Body)"/>
              </a:rPr>
              <a:t> </a:t>
            </a:r>
            <a:r>
              <a:rPr lang="en-US" dirty="0" err="1">
                <a:latin typeface="Calibri (Body)"/>
              </a:rPr>
              <a:t>tử</a:t>
            </a:r>
            <a:r>
              <a:rPr lang="en-US" dirty="0">
                <a:latin typeface="Calibri (Body)"/>
              </a:rPr>
              <a:t> </a:t>
            </a:r>
            <a:r>
              <a:rPr lang="en-US" dirty="0" err="1">
                <a:latin typeface="Calibri (Body)"/>
              </a:rPr>
              <a:t>thỏa</a:t>
            </a:r>
            <a:r>
              <a:rPr lang="en-US" dirty="0">
                <a:latin typeface="Calibri (Body)"/>
              </a:rPr>
              <a:t> </a:t>
            </a:r>
            <a:r>
              <a:rPr lang="en-US" dirty="0" err="1">
                <a:latin typeface="Calibri (Body)"/>
              </a:rPr>
              <a:t>mãn</a:t>
            </a:r>
            <a:r>
              <a:rPr lang="en-US" dirty="0">
                <a:latin typeface="Calibri (Body)"/>
              </a:rPr>
              <a:t> </a:t>
            </a:r>
            <a:r>
              <a:rPr lang="en-US" dirty="0" err="1">
                <a:latin typeface="Calibri (Body)"/>
              </a:rPr>
              <a:t>điều</a:t>
            </a:r>
            <a:r>
              <a:rPr lang="en-US" dirty="0">
                <a:latin typeface="Calibri (Body)"/>
              </a:rPr>
              <a:t> </a:t>
            </a:r>
            <a:r>
              <a:rPr lang="en-US" dirty="0" err="1">
                <a:latin typeface="Calibri (Body)"/>
              </a:rPr>
              <a:t>kiện</a:t>
            </a:r>
            <a:r>
              <a:rPr lang="en-US" dirty="0">
                <a:latin typeface="Calibri (Body)"/>
              </a:rPr>
              <a:t>.</a:t>
            </a:r>
          </a:p>
          <a:p>
            <a:r>
              <a:rPr lang="en-US" dirty="0" err="1">
                <a:latin typeface="Calibri (Body)"/>
              </a:rPr>
              <a:t>Ví</a:t>
            </a:r>
            <a:r>
              <a:rPr lang="en-US" dirty="0">
                <a:latin typeface="Calibri (Body)"/>
              </a:rPr>
              <a:t> </a:t>
            </a:r>
            <a:r>
              <a:rPr lang="en-US" dirty="0" err="1">
                <a:latin typeface="Calibri (Body)"/>
              </a:rPr>
              <a:t>dụ</a:t>
            </a:r>
            <a:r>
              <a:rPr lang="en-US" dirty="0">
                <a:latin typeface="Calibri (Body)"/>
              </a:rPr>
              <a:t>:</a:t>
            </a:r>
          </a:p>
          <a:p>
            <a:r>
              <a:rPr lang="en-US" dirty="0">
                <a:latin typeface="Calibri (Body)"/>
              </a:rPr>
              <a:t>scores = [5, 9, 6, 8, 4, 10]</a:t>
            </a:r>
          </a:p>
          <a:p>
            <a:r>
              <a:rPr lang="fr-FR" dirty="0" err="1">
                <a:latin typeface="Calibri (Body)"/>
              </a:rPr>
              <a:t>excellent_scores</a:t>
            </a:r>
            <a:r>
              <a:rPr lang="fr-FR" dirty="0">
                <a:latin typeface="Calibri (Body)"/>
              </a:rPr>
              <a:t> = </a:t>
            </a:r>
            <a:r>
              <a:rPr lang="fr-FR" dirty="0" err="1">
                <a:latin typeface="Calibri (Body)"/>
              </a:rPr>
              <a:t>list</a:t>
            </a:r>
            <a:r>
              <a:rPr lang="fr-FR" dirty="0">
                <a:latin typeface="Calibri (Body)"/>
              </a:rPr>
              <a:t>(</a:t>
            </a:r>
            <a:r>
              <a:rPr lang="fr-FR" dirty="0" err="1">
                <a:latin typeface="Calibri (Body)"/>
              </a:rPr>
              <a:t>filter</a:t>
            </a:r>
            <a:r>
              <a:rPr lang="fr-FR" dirty="0">
                <a:latin typeface="Calibri (Body)"/>
              </a:rPr>
              <a:t>(lambda x: x &gt;= 8, scores))</a:t>
            </a:r>
          </a:p>
          <a:p>
            <a:r>
              <a:rPr lang="fr-FR" dirty="0" err="1">
                <a:latin typeface="Calibri (Body)"/>
              </a:rPr>
              <a:t>Dưới</a:t>
            </a:r>
            <a:r>
              <a:rPr lang="fr-FR" dirty="0">
                <a:latin typeface="Calibri (Body)"/>
              </a:rPr>
              <a:t> </a:t>
            </a:r>
            <a:r>
              <a:rPr lang="fr-FR" dirty="0" err="1">
                <a:latin typeface="Calibri (Body)"/>
              </a:rPr>
              <a:t>đây</a:t>
            </a:r>
            <a:r>
              <a:rPr lang="fr-FR" dirty="0">
                <a:latin typeface="Calibri (Body)"/>
              </a:rPr>
              <a:t> là </a:t>
            </a:r>
            <a:r>
              <a:rPr lang="fr-FR" dirty="0" err="1">
                <a:latin typeface="Calibri (Body)"/>
              </a:rPr>
              <a:t>kết</a:t>
            </a:r>
            <a:r>
              <a:rPr lang="fr-FR" dirty="0">
                <a:latin typeface="Calibri (Body)"/>
              </a:rPr>
              <a:t> quả:5</a:t>
            </a:r>
            <a:endParaRPr lang="en-US" dirty="0">
              <a:latin typeface="Calibri (Body)"/>
            </a:endParaRPr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FFA514D-6628-5199-B944-3D9CAA9AED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8596" y="3429000"/>
            <a:ext cx="6805833" cy="29285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4838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27587"/>
            <a:ext cx="10131425" cy="725186"/>
          </a:xfrm>
        </p:spPr>
        <p:txBody>
          <a:bodyPr/>
          <a:lstStyle/>
          <a:p>
            <a:r>
              <a:rPr lang="en-US" b="1" dirty="0" err="1"/>
              <a:t>Bài</a:t>
            </a:r>
            <a:r>
              <a:rPr lang="en-US" b="1" dirty="0"/>
              <a:t> </a:t>
            </a:r>
            <a:r>
              <a:rPr lang="en-US" b="1" dirty="0" err="1"/>
              <a:t>tập</a:t>
            </a:r>
            <a:r>
              <a:rPr lang="en-US" b="1" dirty="0"/>
              <a:t> </a:t>
            </a:r>
            <a:r>
              <a:rPr lang="en-US" b="1" dirty="0" err="1"/>
              <a:t>hàm</a:t>
            </a:r>
            <a:r>
              <a:rPr lang="en-US" b="1" dirty="0"/>
              <a:t> lambda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C237F11C-CAFB-6A8B-B6D9-2642F91CBBB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85800" y="1019527"/>
            <a:ext cx="9447244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vi-VN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Bài 1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vi-VN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:Viết một hàm lambda để nhân đôi một số.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Ví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dụ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</a:t>
            </a:r>
            <a:r>
              <a:rPr kumimoji="0" lang="en-US" altLang="en-US" sz="2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Nhập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vào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số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n = 5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Output: 10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6447E175-7DCA-6656-3CED-0C66D3109F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2286610"/>
            <a:ext cx="10131425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marL="285750" indent="-2857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vi-VN" altLang="en-US" sz="2400" dirty="0">
                <a:latin typeface="Arial" panose="020B0604020202020204" pitchFamily="34" charset="0"/>
              </a:rPr>
              <a:t>Bài 2 – Lambda nhiều tham số</a:t>
            </a:r>
            <a:r>
              <a:rPr lang="en-US" altLang="en-US" sz="2400" dirty="0">
                <a:latin typeface="Arial" panose="020B0604020202020204" pitchFamily="34" charset="0"/>
              </a:rPr>
              <a:t>. </a:t>
            </a:r>
            <a:r>
              <a:rPr lang="vi-VN" altLang="en-US" sz="2400" dirty="0">
                <a:latin typeface="Arial" panose="020B0604020202020204" pitchFamily="34" charset="0"/>
              </a:rPr>
              <a:t>Mô tả:Viết một lambda để tính tổng của hai số.</a:t>
            </a:r>
            <a:endParaRPr lang="en-US" altLang="en-US" sz="2400" dirty="0">
              <a:latin typeface="Arial" panose="020B0604020202020204" pitchFamily="34" charset="0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400" dirty="0" err="1">
                <a:latin typeface="Arial" panose="020B0604020202020204" pitchFamily="34" charset="0"/>
              </a:rPr>
              <a:t>Ví</a:t>
            </a:r>
            <a:r>
              <a:rPr lang="en-US" altLang="en-US" sz="2400" dirty="0">
                <a:latin typeface="Arial" panose="020B0604020202020204" pitchFamily="34" charset="0"/>
              </a:rPr>
              <a:t> </a:t>
            </a:r>
            <a:r>
              <a:rPr lang="en-US" altLang="en-US" sz="2400" dirty="0" err="1">
                <a:latin typeface="Arial" panose="020B0604020202020204" pitchFamily="34" charset="0"/>
              </a:rPr>
              <a:t>dụ</a:t>
            </a:r>
            <a:r>
              <a:rPr lang="en-US" altLang="en-US" sz="2400" dirty="0">
                <a:latin typeface="Arial" panose="020B0604020202020204" pitchFamily="34" charset="0"/>
              </a:rPr>
              <a:t>: Input: 3, 7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400" dirty="0">
                <a:latin typeface="Arial" panose="020B0604020202020204" pitchFamily="34" charset="0"/>
              </a:rPr>
              <a:t>Output: 10</a:t>
            </a: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89D67BD2-6F63-3EC2-68D4-19121AE497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3923024"/>
            <a:ext cx="10131425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marL="285750" indent="-2857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vi-VN" altLang="en-US" sz="2400" dirty="0">
                <a:latin typeface="Arial" panose="020B0604020202020204" pitchFamily="34" charset="0"/>
              </a:rPr>
              <a:t>Bài 3 – Lambda với map</a:t>
            </a:r>
            <a:r>
              <a:rPr lang="en-US" altLang="en-US" sz="2400" dirty="0">
                <a:latin typeface="Arial" panose="020B0604020202020204" pitchFamily="34" charset="0"/>
              </a:rPr>
              <a:t>. </a:t>
            </a:r>
            <a:r>
              <a:rPr lang="vi-VN" altLang="en-US" sz="2400" dirty="0">
                <a:latin typeface="Arial" panose="020B0604020202020204" pitchFamily="34" charset="0"/>
              </a:rPr>
              <a:t>Mô tả:Cho danh sách:</a:t>
            </a:r>
            <a:r>
              <a:rPr lang="en-US" altLang="en-US" sz="2400" dirty="0">
                <a:latin typeface="Arial" panose="020B0604020202020204" pitchFamily="34" charset="0"/>
              </a:rPr>
              <a:t> </a:t>
            </a:r>
            <a:r>
              <a:rPr lang="vi-VN" altLang="en-US" sz="2400" dirty="0">
                <a:latin typeface="Arial" panose="020B0604020202020204" pitchFamily="34" charset="0"/>
              </a:rPr>
              <a:t>numbers = [1, 2, 3, 4, 5]</a:t>
            </a:r>
            <a:endParaRPr lang="en-US" altLang="en-US" sz="2400" dirty="0">
              <a:latin typeface="Arial" panose="020B0604020202020204" pitchFamily="34" charset="0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vi-VN" altLang="en-US" sz="2400" dirty="0">
                <a:latin typeface="Arial" panose="020B0604020202020204" pitchFamily="34" charset="0"/>
              </a:rPr>
              <a:t>Dùng map và lambda để tính bình phương của mỗi số.</a:t>
            </a:r>
            <a:endParaRPr lang="en-US" altLang="en-US" sz="2400" dirty="0">
              <a:latin typeface="Arial" panose="020B0604020202020204" pitchFamily="34" charset="0"/>
            </a:endParaRPr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10F2A572-6F01-4DD3-40AF-C1BE622869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4932742"/>
            <a:ext cx="10734869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marL="285750" indent="-2857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vi-VN" altLang="en-US" sz="2400" dirty="0">
                <a:latin typeface="Arial" panose="020B0604020202020204" pitchFamily="34" charset="0"/>
              </a:rPr>
              <a:t>Bài 4 – Lambda với sorted</a:t>
            </a:r>
            <a:r>
              <a:rPr lang="en-US" altLang="en-US" sz="2400" dirty="0">
                <a:latin typeface="Arial" panose="020B0604020202020204" pitchFamily="34" charset="0"/>
              </a:rPr>
              <a:t>. </a:t>
            </a:r>
            <a:r>
              <a:rPr lang="vi-VN" altLang="en-US" sz="2400" dirty="0">
                <a:latin typeface="Arial" panose="020B0604020202020204" pitchFamily="34" charset="0"/>
              </a:rPr>
              <a:t>Mô tả:Cho danh sách học sinh:</a:t>
            </a:r>
            <a:endParaRPr lang="en-US" altLang="en-US" sz="2400" dirty="0">
              <a:latin typeface="Arial" panose="020B0604020202020204" pitchFamily="34" charset="0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vi-VN" altLang="en-US" sz="2400" dirty="0">
                <a:latin typeface="Arial" panose="020B0604020202020204" pitchFamily="34" charset="0"/>
              </a:rPr>
              <a:t>students = [("An", 8), ("Binh", 6), ("Chi", 9)]</a:t>
            </a:r>
            <a:endParaRPr lang="en-US" altLang="en-US" sz="2400" dirty="0">
              <a:latin typeface="Arial" panose="020B0604020202020204" pitchFamily="34" charset="0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vi-VN" altLang="en-US" sz="2400" dirty="0">
                <a:latin typeface="Arial" panose="020B0604020202020204" pitchFamily="34" charset="0"/>
              </a:rPr>
              <a:t>Dùng sorted và lambda để sắp xếp theo điểm tăng dần.</a:t>
            </a:r>
            <a:endParaRPr lang="en-US" altLang="en-US" sz="2400" dirty="0">
              <a:latin typeface="Arial" panose="020B0604020202020204" pitchFamily="34" charset="0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400" dirty="0">
                <a:latin typeface="Arial" panose="020B0604020202020204" pitchFamily="34" charset="0"/>
              </a:rPr>
              <a:t>Output :[('Binh', 6), ('An', 8), ('Chi', 9)]</a:t>
            </a:r>
          </a:p>
        </p:txBody>
      </p:sp>
    </p:spTree>
    <p:extLst>
      <p:ext uri="{BB962C8B-B14F-4D97-AF65-F5344CB8AC3E}">
        <p14:creationId xmlns:p14="http://schemas.microsoft.com/office/powerpoint/2010/main" val="19214040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27587"/>
            <a:ext cx="10131425" cy="725186"/>
          </a:xfrm>
        </p:spPr>
        <p:txBody>
          <a:bodyPr/>
          <a:lstStyle/>
          <a:p>
            <a:r>
              <a:rPr lang="en-US" b="1" dirty="0" err="1"/>
              <a:t>Bài</a:t>
            </a:r>
            <a:r>
              <a:rPr lang="en-US" b="1" dirty="0"/>
              <a:t> </a:t>
            </a:r>
            <a:r>
              <a:rPr lang="en-US" b="1" dirty="0" err="1"/>
              <a:t>tập</a:t>
            </a:r>
            <a:r>
              <a:rPr lang="en-US" b="1" dirty="0"/>
              <a:t> </a:t>
            </a:r>
            <a:r>
              <a:rPr lang="en-US" b="1" dirty="0" err="1"/>
              <a:t>hàm</a:t>
            </a:r>
            <a:r>
              <a:rPr lang="en-US" b="1" dirty="0"/>
              <a:t> lambda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C237F11C-CAFB-6A8B-B6D9-2642F91CBBB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85800" y="1575387"/>
            <a:ext cx="9447244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vi-VN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Bài 5 – Nâng caoMô tả:Cho danh sách sản phẩm:</a:t>
            </a:r>
            <a:endParaRPr kumimoji="0" lang="en-US" altLang="en-US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vi-VN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products = [    </a:t>
            </a:r>
            <a:endParaRPr kumimoji="0" lang="en-US" altLang="en-US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400" dirty="0">
                <a:latin typeface="Arial" panose="020B0604020202020204" pitchFamily="34" charset="0"/>
              </a:rPr>
              <a:t>		</a:t>
            </a:r>
            <a:r>
              <a:rPr kumimoji="0" lang="vi-VN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{"name": "Apple", "price": 10},    </a:t>
            </a:r>
            <a:endParaRPr kumimoji="0" lang="en-US" altLang="en-US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400" dirty="0">
                <a:latin typeface="Arial" panose="020B0604020202020204" pitchFamily="34" charset="0"/>
              </a:rPr>
              <a:t>		</a:t>
            </a:r>
            <a:r>
              <a:rPr kumimoji="0" lang="vi-VN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{"name": "Orange", "price": 7},    </a:t>
            </a:r>
            <a:endParaRPr kumimoji="0" lang="en-US" altLang="en-US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400" dirty="0">
                <a:latin typeface="Arial" panose="020B0604020202020204" pitchFamily="34" charset="0"/>
              </a:rPr>
              <a:t>		</a:t>
            </a:r>
            <a:r>
              <a:rPr kumimoji="0" lang="vi-VN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{"name": "Banana", "price": 5}]</a:t>
            </a:r>
            <a:endParaRPr kumimoji="0" lang="en-US" altLang="en-US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vi-VN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Dùng sorted và lambda để sắp xếp sản phẩm theo giá giảm dần.</a:t>
            </a:r>
            <a:endParaRPr kumimoji="0" lang="en-US" altLang="en-US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123248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27587"/>
            <a:ext cx="10131425" cy="725186"/>
          </a:xfrm>
        </p:spPr>
        <p:txBody>
          <a:bodyPr/>
          <a:lstStyle/>
          <a:p>
            <a:r>
              <a:rPr lang="en-US" b="1" dirty="0" err="1"/>
              <a:t>Bài</a:t>
            </a:r>
            <a:r>
              <a:rPr lang="en-US" b="1" dirty="0"/>
              <a:t> </a:t>
            </a:r>
            <a:r>
              <a:rPr lang="en-US" b="1" dirty="0" err="1"/>
              <a:t>tập</a:t>
            </a:r>
            <a:r>
              <a:rPr lang="en-US" b="1" dirty="0"/>
              <a:t> Filter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C237F11C-CAFB-6A8B-B6D9-2642F91CBBB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85800" y="881029"/>
            <a:ext cx="9447244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vi-VN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Bài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</a:t>
            </a:r>
            <a:r>
              <a:rPr kumimoji="0" lang="vi-VN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Lọc số lớn hơn một giá trị</a:t>
            </a: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vi-VN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Mô tả: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vi-VN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Cho danh sách:numbers = [10, 25, 30, 5, 18]</a:t>
            </a:r>
            <a:endParaRPr kumimoji="0" lang="en-US" altLang="en-US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vi-VN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Dùng filter để lấy các số lớn hơn 20.</a:t>
            </a:r>
            <a:endParaRPr kumimoji="0" lang="en-US" altLang="en-US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vi-VN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Kết quả: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vi-VN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[25, 30]</a:t>
            </a:r>
            <a:endParaRPr kumimoji="0" lang="en-US" altLang="en-US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10F2A572-6F01-4DD3-40AF-C1BE622869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799" y="2776249"/>
            <a:ext cx="10734869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marL="285750" indent="-2857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vi-VN" altLang="en-US" sz="2400" b="1" dirty="0">
                <a:latin typeface="Arial" panose="020B0604020202020204" pitchFamily="34" charset="0"/>
              </a:rPr>
              <a:t>Bài </a:t>
            </a:r>
            <a:r>
              <a:rPr lang="en-US" altLang="en-US" sz="2400" b="1" dirty="0">
                <a:latin typeface="Arial" panose="020B0604020202020204" pitchFamily="34" charset="0"/>
              </a:rPr>
              <a:t>2</a:t>
            </a:r>
            <a:r>
              <a:rPr lang="vi-VN" altLang="en-US" sz="2400" b="1" dirty="0">
                <a:latin typeface="Arial" panose="020B0604020202020204" pitchFamily="34" charset="0"/>
              </a:rPr>
              <a:t> – Lọc số chẵn</a:t>
            </a:r>
            <a:endParaRPr lang="en-US" altLang="en-US" sz="2400" b="1" dirty="0">
              <a:latin typeface="Arial" panose="020B0604020202020204" pitchFamily="34" charset="0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vi-VN" altLang="en-US" sz="2400" dirty="0">
                <a:latin typeface="Arial" panose="020B0604020202020204" pitchFamily="34" charset="0"/>
              </a:rPr>
              <a:t>Mô tả:</a:t>
            </a:r>
            <a:r>
              <a:rPr lang="en-US" altLang="en-US" sz="2400" dirty="0">
                <a:latin typeface="Arial" panose="020B0604020202020204" pitchFamily="34" charset="0"/>
              </a:rPr>
              <a:t> </a:t>
            </a:r>
            <a:r>
              <a:rPr lang="vi-VN" altLang="en-US" sz="2400" dirty="0">
                <a:latin typeface="Arial" panose="020B0604020202020204" pitchFamily="34" charset="0"/>
              </a:rPr>
              <a:t>Cho danh sách:numbers = [1,2,3,4,5,6,7,8]</a:t>
            </a:r>
            <a:endParaRPr lang="en-US" altLang="en-US" sz="2400" dirty="0">
              <a:latin typeface="Arial" panose="020B0604020202020204" pitchFamily="34" charset="0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vi-VN" altLang="en-US" sz="2400" dirty="0">
                <a:latin typeface="Arial" panose="020B0604020202020204" pitchFamily="34" charset="0"/>
              </a:rPr>
              <a:t>Dùng filter để lấy các số chẵn.</a:t>
            </a:r>
            <a:endParaRPr lang="en-US" altLang="en-US" sz="2400" dirty="0">
              <a:latin typeface="Arial" panose="020B0604020202020204" pitchFamily="34" charset="0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vi-VN" altLang="en-US" sz="2400" dirty="0">
                <a:latin typeface="Arial" panose="020B0604020202020204" pitchFamily="34" charset="0"/>
              </a:rPr>
              <a:t>Kết quả:[2,4,6,8]</a:t>
            </a:r>
            <a:endParaRPr lang="en-US" altLang="en-US" sz="2400" dirty="0">
              <a:latin typeface="Arial" panose="020B0604020202020204" pitchFamily="34" charset="0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23995AD5-2840-5DC8-3A14-8950C70403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799" y="4671469"/>
            <a:ext cx="10734869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marL="285750" indent="-2857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vi-VN" altLang="en-US" sz="2400" b="1" dirty="0">
                <a:latin typeface="Arial" panose="020B0604020202020204" pitchFamily="34" charset="0"/>
              </a:rPr>
              <a:t>Bài 3 – Lọc chuỗi dài</a:t>
            </a:r>
            <a:endParaRPr lang="en-US" altLang="en-US" sz="2400" b="1" dirty="0">
              <a:latin typeface="Arial" panose="020B0604020202020204" pitchFamily="34" charset="0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vi-VN" altLang="en-US" sz="2400" dirty="0">
                <a:latin typeface="Arial" panose="020B0604020202020204" pitchFamily="34" charset="0"/>
              </a:rPr>
              <a:t>Mô tả:</a:t>
            </a:r>
            <a:r>
              <a:rPr lang="en-US" altLang="en-US" sz="2400" dirty="0">
                <a:latin typeface="Arial" panose="020B0604020202020204" pitchFamily="34" charset="0"/>
              </a:rPr>
              <a:t> </a:t>
            </a:r>
            <a:r>
              <a:rPr lang="vi-VN" altLang="en-US" sz="2400" dirty="0">
                <a:latin typeface="Arial" panose="020B0604020202020204" pitchFamily="34" charset="0"/>
              </a:rPr>
              <a:t>Cho danh sách tên:names = ["An", "Binh", "Chi", "Dong", "Ha"]</a:t>
            </a:r>
            <a:endParaRPr lang="en-US" altLang="en-US" sz="2400" dirty="0">
              <a:latin typeface="Arial" panose="020B0604020202020204" pitchFamily="34" charset="0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vi-VN" altLang="en-US" sz="2400" dirty="0">
                <a:latin typeface="Arial" panose="020B0604020202020204" pitchFamily="34" charset="0"/>
              </a:rPr>
              <a:t>Dùng filter để lấy các tên có độ dài lớn hơn 3 ký tự.</a:t>
            </a:r>
            <a:endParaRPr lang="en-US" altLang="en-US" sz="2400" dirty="0">
              <a:latin typeface="Arial" panose="020B0604020202020204" pitchFamily="34" charset="0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vi-VN" altLang="en-US" sz="2400" dirty="0">
                <a:latin typeface="Arial" panose="020B0604020202020204" pitchFamily="34" charset="0"/>
              </a:rPr>
              <a:t>Kết quả:["Binh", "Dong"]</a:t>
            </a:r>
            <a:endParaRPr lang="en-US" altLang="en-US" sz="24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589785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27587"/>
            <a:ext cx="10131425" cy="725186"/>
          </a:xfrm>
        </p:spPr>
        <p:txBody>
          <a:bodyPr/>
          <a:lstStyle/>
          <a:p>
            <a:r>
              <a:rPr lang="en-US" b="1" dirty="0" err="1"/>
              <a:t>Bài</a:t>
            </a:r>
            <a:r>
              <a:rPr lang="en-US" b="1" dirty="0"/>
              <a:t> </a:t>
            </a:r>
            <a:r>
              <a:rPr lang="en-US" b="1" dirty="0" err="1"/>
              <a:t>tập</a:t>
            </a:r>
            <a:r>
              <a:rPr lang="en-US" b="1" dirty="0"/>
              <a:t> Filter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C237F11C-CAFB-6A8B-B6D9-2642F91CBBB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85800" y="1106309"/>
            <a:ext cx="9447244" cy="48936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vi-VN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Bài 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4</a:t>
            </a:r>
            <a:r>
              <a:rPr kumimoji="0" lang="vi-VN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Nâng cao (Dictionary)</a:t>
            </a:r>
            <a:endParaRPr kumimoji="0" lang="en-US" altLang="en-US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vi-VN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Mô tả: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vi-VN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Cho danh sách học sinh:</a:t>
            </a:r>
            <a:endParaRPr kumimoji="0" lang="en-US" altLang="en-US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vi-VN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students = [    </a:t>
            </a:r>
            <a:endParaRPr kumimoji="0" lang="en-US" altLang="en-US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400" dirty="0">
                <a:latin typeface="Arial" panose="020B0604020202020204" pitchFamily="34" charset="0"/>
              </a:rPr>
              <a:t>		</a:t>
            </a:r>
            <a:r>
              <a:rPr kumimoji="0" lang="vi-VN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{"name": "An", "score": 8},    </a:t>
            </a:r>
            <a:endParaRPr kumimoji="0" lang="en-US" altLang="en-US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400" dirty="0">
                <a:latin typeface="Arial" panose="020B0604020202020204" pitchFamily="34" charset="0"/>
              </a:rPr>
              <a:t>		</a:t>
            </a:r>
            <a:r>
              <a:rPr kumimoji="0" lang="vi-VN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{"name": "Binh", "score": 6},    </a:t>
            </a:r>
            <a:endParaRPr kumimoji="0" lang="en-US" altLang="en-US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400" dirty="0">
                <a:latin typeface="Arial" panose="020B0604020202020204" pitchFamily="34" charset="0"/>
              </a:rPr>
              <a:t>		</a:t>
            </a:r>
            <a:r>
              <a:rPr kumimoji="0" lang="vi-VN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{"name": "Chi", "score": 9},    </a:t>
            </a:r>
            <a:endParaRPr kumimoji="0" lang="en-US" altLang="en-US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400" dirty="0">
                <a:latin typeface="Arial" panose="020B0604020202020204" pitchFamily="34" charset="0"/>
              </a:rPr>
              <a:t>		</a:t>
            </a:r>
            <a:r>
              <a:rPr kumimoji="0" lang="vi-VN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{"name": "Dung", "score": 4}</a:t>
            </a:r>
            <a:endParaRPr lang="en-US" altLang="en-US" sz="24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	</a:t>
            </a:r>
            <a:r>
              <a:rPr kumimoji="0" lang="vi-VN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]</a:t>
            </a:r>
            <a:endParaRPr kumimoji="0" lang="en-US" altLang="en-US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vi-VN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Dùng filter để lấy các học sinh có điểm ≥ 7.</a:t>
            </a:r>
            <a:endParaRPr kumimoji="0" lang="en-US" altLang="en-US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vi-VN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Kết quả:[ </a:t>
            </a:r>
            <a:endParaRPr kumimoji="0" lang="en-US" altLang="en-US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400" dirty="0">
                <a:latin typeface="Arial" panose="020B0604020202020204" pitchFamily="34" charset="0"/>
              </a:rPr>
              <a:t>		</a:t>
            </a:r>
            <a:r>
              <a:rPr kumimoji="0" lang="vi-VN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{"name": "An", "score": 8}, </a:t>
            </a:r>
            <a:endParaRPr kumimoji="0" lang="en-US" altLang="en-US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400" dirty="0">
                <a:latin typeface="Arial" panose="020B0604020202020204" pitchFamily="34" charset="0"/>
              </a:rPr>
              <a:t>		</a:t>
            </a:r>
            <a:r>
              <a:rPr kumimoji="0" lang="vi-VN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{"name": "Chi", "score": 9}</a:t>
            </a:r>
            <a:endParaRPr kumimoji="0" lang="en-US" altLang="en-US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400" dirty="0">
                <a:latin typeface="Arial" panose="020B0604020202020204" pitchFamily="34" charset="0"/>
              </a:rPr>
              <a:t>		</a:t>
            </a:r>
            <a:r>
              <a:rPr kumimoji="0" lang="vi-VN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]</a:t>
            </a:r>
            <a:endParaRPr kumimoji="0" lang="en-US" altLang="en-US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540086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elestial">
  <a:themeElements>
    <a:clrScheme name="Celestial">
      <a:dk1>
        <a:sysClr val="windowText" lastClr="000000"/>
      </a:dk1>
      <a:lt1>
        <a:sysClr val="window" lastClr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42E5908D-19A2-46FD-89FA-638B126129E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Celestial</Template>
  <TotalTime>3716</TotalTime>
  <Words>652</Words>
  <Application>Microsoft Office PowerPoint</Application>
  <PresentationFormat>Widescreen</PresentationFormat>
  <Paragraphs>63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(Body)</vt:lpstr>
      <vt:lpstr>Calibri Light</vt:lpstr>
      <vt:lpstr>Celestial</vt:lpstr>
      <vt:lpstr>LẬP TRÌNH PYTHON</vt:lpstr>
      <vt:lpstr>Hàm Lambda (Hàm ẩn danh)</vt:lpstr>
      <vt:lpstr>Filter() trong python</vt:lpstr>
      <vt:lpstr>Bài tập hàm lambda</vt:lpstr>
      <vt:lpstr>Bài tập hàm lambda</vt:lpstr>
      <vt:lpstr>Bài tập Filter</vt:lpstr>
      <vt:lpstr>Bài tập Filter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LẬP TRÌNH SCRATCH</dc:title>
  <dc:creator>Duc Tung</dc:creator>
  <cp:lastModifiedBy>Administrator</cp:lastModifiedBy>
  <cp:revision>155</cp:revision>
  <dcterms:created xsi:type="dcterms:W3CDTF">2023-07-04T14:52:20Z</dcterms:created>
  <dcterms:modified xsi:type="dcterms:W3CDTF">2026-03-10T08:12:03Z</dcterms:modified>
</cp:coreProperties>
</file>