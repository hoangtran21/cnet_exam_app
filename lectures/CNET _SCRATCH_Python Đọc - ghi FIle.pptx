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75" r:id="rId4"/>
    <p:sldId id="272" r:id="rId5"/>
    <p:sldId id="276" r:id="rId6"/>
    <p:sldId id="278" r:id="rId7"/>
    <p:sldId id="279" r:id="rId8"/>
    <p:sldId id="274" r:id="rId9"/>
    <p:sldId id="28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608" autoAdjust="0"/>
    <p:restoredTop sz="94660"/>
  </p:normalViewPr>
  <p:slideViewPr>
    <p:cSldViewPr snapToGrid="0">
      <p:cViewPr>
        <p:scale>
          <a:sx n="70" d="100"/>
          <a:sy n="70" d="100"/>
        </p:scale>
        <p:origin x="1416" y="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/>
              <a:t>LẬP TRÌNH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/>
              <a:t>CON ĐƯỜNG TRỞ THÀNH LẬP TRÌNH VIÊN PYTHON CHUYÊN NGHIỆP</a:t>
            </a:r>
          </a:p>
        </p:txBody>
      </p:sp>
    </p:spTree>
    <p:extLst>
      <p:ext uri="{BB962C8B-B14F-4D97-AF65-F5344CB8AC3E}">
        <p14:creationId xmlns:p14="http://schemas.microsoft.com/office/powerpoint/2010/main" val="121865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385158"/>
            <a:ext cx="10131425" cy="725186"/>
          </a:xfrm>
        </p:spPr>
        <p:txBody>
          <a:bodyPr/>
          <a:lstStyle/>
          <a:p>
            <a:r>
              <a:rPr lang="nn-NO" dirty="0"/>
              <a:t>PYTHON FILE HANDLING (ĐỌC - GHI FILE)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2" y="1110345"/>
            <a:ext cx="9606278" cy="5610418"/>
          </a:xfrm>
        </p:spPr>
        <p:txBody>
          <a:bodyPr anchor="t" anchorCtr="0">
            <a:normAutofit/>
          </a:bodyPr>
          <a:lstStyle/>
          <a:p>
            <a:r>
              <a:rPr lang="en-US" dirty="0" err="1">
                <a:latin typeface="Calibri (Body)"/>
              </a:rPr>
              <a:t>Dữ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liệu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nhập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từ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bàn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phím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sẽ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mất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khi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tắt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chương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trình</a:t>
            </a:r>
            <a:endParaRPr lang="en-US" dirty="0">
              <a:latin typeface="Calibri (Body)"/>
            </a:endParaRPr>
          </a:p>
          <a:p>
            <a:r>
              <a:rPr lang="en-US" dirty="0">
                <a:latin typeface="Calibri (Body)"/>
              </a:rPr>
              <a:t>File </a:t>
            </a:r>
            <a:r>
              <a:rPr lang="en-US" dirty="0" err="1">
                <a:latin typeface="Calibri (Body)"/>
              </a:rPr>
              <a:t>giúp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lưu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trữ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dữ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liệu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lâu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dài</a:t>
            </a:r>
            <a:endParaRPr lang="en-US" dirty="0">
              <a:latin typeface="Calibri (Body)"/>
            </a:endParaRPr>
          </a:p>
          <a:p>
            <a:r>
              <a:rPr lang="en-US" dirty="0" err="1">
                <a:latin typeface="Calibri (Body)"/>
              </a:rPr>
              <a:t>Ứng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dụng</a:t>
            </a:r>
            <a:r>
              <a:rPr lang="en-US" dirty="0">
                <a:latin typeface="Calibri (Body)"/>
              </a:rPr>
              <a:t>:</a:t>
            </a:r>
          </a:p>
          <a:p>
            <a:pPr lvl="1"/>
            <a:r>
              <a:rPr lang="en-US" dirty="0" err="1">
                <a:latin typeface="Calibri (Body)"/>
              </a:rPr>
              <a:t>Lưu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trữ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dữ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liệu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người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dùng</a:t>
            </a:r>
            <a:endParaRPr lang="en-US" dirty="0">
              <a:latin typeface="Calibri (Body)"/>
            </a:endParaRPr>
          </a:p>
          <a:p>
            <a:pPr lvl="1"/>
            <a:r>
              <a:rPr lang="en-US" dirty="0" err="1">
                <a:latin typeface="Calibri (Body)"/>
              </a:rPr>
              <a:t>Ghi</a:t>
            </a:r>
            <a:r>
              <a:rPr lang="en-US" dirty="0">
                <a:latin typeface="Calibri (Body)"/>
              </a:rPr>
              <a:t> log </a:t>
            </a:r>
            <a:r>
              <a:rPr lang="en-US" dirty="0" err="1">
                <a:latin typeface="Calibri (Body)"/>
              </a:rPr>
              <a:t>hệ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thống</a:t>
            </a:r>
            <a:endParaRPr lang="en-US" dirty="0">
              <a:latin typeface="Calibri (Body)"/>
            </a:endParaRPr>
          </a:p>
          <a:p>
            <a:pPr lvl="1"/>
            <a:r>
              <a:rPr lang="en-US" dirty="0" err="1">
                <a:latin typeface="Calibri (Body)"/>
              </a:rPr>
              <a:t>Đọc</a:t>
            </a:r>
            <a:r>
              <a:rPr lang="en-US" dirty="0">
                <a:latin typeface="Calibri (Body)"/>
              </a:rPr>
              <a:t> file </a:t>
            </a:r>
            <a:r>
              <a:rPr lang="en-US" dirty="0" err="1">
                <a:latin typeface="Calibri (Body)"/>
              </a:rPr>
              <a:t>cấu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hình</a:t>
            </a:r>
            <a:endParaRPr lang="en-US" dirty="0">
              <a:latin typeface="Calibri (Body)"/>
            </a:endParaRPr>
          </a:p>
          <a:p>
            <a:pPr lvl="1"/>
            <a:endParaRPr lang="en-US" dirty="0">
              <a:latin typeface="Calibri (Body)"/>
            </a:endParaRP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05C77A88-D4C9-716D-C6D2-6FBA44613D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 descr="A robot pointing at something&#10;&#10;AI-generated content may be incorrect.">
            <a:extLst>
              <a:ext uri="{FF2B5EF4-FFF2-40B4-BE49-F238E27FC236}">
                <a16:creationId xmlns:a16="http://schemas.microsoft.com/office/drawing/2014/main" id="{BFCA1E3A-A7CB-D030-B137-0884063C4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0698" y="2929795"/>
            <a:ext cx="6295403" cy="3543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085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7587"/>
            <a:ext cx="10131425" cy="725186"/>
          </a:xfrm>
        </p:spPr>
        <p:txBody>
          <a:bodyPr/>
          <a:lstStyle/>
          <a:p>
            <a:r>
              <a:rPr lang="en-US" b="1" dirty="0" err="1"/>
              <a:t>Mở</a:t>
            </a:r>
            <a:r>
              <a:rPr lang="en-US" b="1" dirty="0"/>
              <a:t> file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BBFC32-8DC4-2CF7-F37B-97089467A736}"/>
              </a:ext>
            </a:extLst>
          </p:cNvPr>
          <p:cNvSpPr txBox="1"/>
          <p:nvPr/>
        </p:nvSpPr>
        <p:spPr>
          <a:xfrm>
            <a:off x="924508" y="1545792"/>
            <a:ext cx="715327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 (Body)"/>
              </a:rPr>
              <a:t>Cú </a:t>
            </a:r>
            <a:r>
              <a:rPr lang="en-US" dirty="0" err="1">
                <a:latin typeface="Calibri (Body)"/>
              </a:rPr>
              <a:t>pháp</a:t>
            </a:r>
            <a:r>
              <a:rPr lang="en-US" dirty="0">
                <a:latin typeface="Calibri (Body)"/>
              </a:rPr>
              <a:t>:</a:t>
            </a:r>
          </a:p>
          <a:p>
            <a:pPr lvl="1"/>
            <a:r>
              <a:rPr lang="en-US" dirty="0">
                <a:latin typeface="Calibri (Body)"/>
              </a:rPr>
              <a:t>open(file, mode=‘r’, encoding=‘utf-8’)</a:t>
            </a:r>
          </a:p>
          <a:p>
            <a:pPr lvl="1"/>
            <a:endParaRPr lang="en-US" dirty="0">
              <a:latin typeface="Calibri (Body)"/>
            </a:endParaRPr>
          </a:p>
          <a:p>
            <a:pPr lvl="1"/>
            <a:r>
              <a:rPr lang="en-US" dirty="0">
                <a:latin typeface="Calibri (Body)"/>
              </a:rPr>
              <a:t>Trong </a:t>
            </a:r>
            <a:r>
              <a:rPr lang="en-US" dirty="0" err="1">
                <a:latin typeface="Calibri (Body)"/>
              </a:rPr>
              <a:t>đó</a:t>
            </a:r>
            <a:r>
              <a:rPr lang="en-US" dirty="0">
                <a:latin typeface="Calibri (Body)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 (Body)"/>
              </a:rPr>
              <a:t>File: </a:t>
            </a:r>
            <a:r>
              <a:rPr lang="en-US" dirty="0" err="1">
                <a:latin typeface="Calibri (Body)"/>
              </a:rPr>
              <a:t>đường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dẫn</a:t>
            </a:r>
            <a:r>
              <a:rPr lang="en-US" dirty="0">
                <a:latin typeface="Calibri (Body)"/>
              </a:rPr>
              <a:t> file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 (Body)"/>
              </a:rPr>
              <a:t>Mode: </a:t>
            </a:r>
            <a:r>
              <a:rPr lang="en-US" dirty="0" err="1">
                <a:latin typeface="Calibri (Body)"/>
              </a:rPr>
              <a:t>chế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độ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mở</a:t>
            </a:r>
            <a:endParaRPr lang="en-US" dirty="0">
              <a:latin typeface="Calibri (Body)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 (Body)"/>
              </a:rPr>
              <a:t>Encoding: </a:t>
            </a:r>
            <a:r>
              <a:rPr lang="en-US" dirty="0" err="1">
                <a:latin typeface="Calibri (Body)"/>
              </a:rPr>
              <a:t>bảng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mã</a:t>
            </a:r>
            <a:r>
              <a:rPr lang="en-US" dirty="0">
                <a:latin typeface="Calibri (Body)"/>
              </a:rPr>
              <a:t> (</a:t>
            </a:r>
            <a:r>
              <a:rPr lang="en-US" dirty="0" err="1">
                <a:latin typeface="Calibri (Body)"/>
              </a:rPr>
              <a:t>Khuyến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nghị</a:t>
            </a:r>
            <a:r>
              <a:rPr lang="en-US" dirty="0">
                <a:latin typeface="Calibri (Body)"/>
              </a:rPr>
              <a:t> utf-8)</a:t>
            </a:r>
          </a:p>
        </p:txBody>
      </p:sp>
    </p:spTree>
    <p:extLst>
      <p:ext uri="{BB962C8B-B14F-4D97-AF65-F5344CB8AC3E}">
        <p14:creationId xmlns:p14="http://schemas.microsoft.com/office/powerpoint/2010/main" val="2872851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7587"/>
            <a:ext cx="10131425" cy="725186"/>
          </a:xfrm>
        </p:spPr>
        <p:txBody>
          <a:bodyPr/>
          <a:lstStyle/>
          <a:p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chế</a:t>
            </a:r>
            <a:r>
              <a:rPr lang="en-US" b="1" dirty="0"/>
              <a:t> </a:t>
            </a:r>
            <a:r>
              <a:rPr lang="en-US" b="1" dirty="0" err="1"/>
              <a:t>độ</a:t>
            </a:r>
            <a:r>
              <a:rPr lang="en-US" b="1" dirty="0"/>
              <a:t> </a:t>
            </a:r>
            <a:r>
              <a:rPr lang="en-US" b="1" dirty="0" err="1"/>
              <a:t>mở</a:t>
            </a:r>
            <a:r>
              <a:rPr lang="en-US" b="1" dirty="0"/>
              <a:t> file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BBFC32-8DC4-2CF7-F37B-97089467A736}"/>
              </a:ext>
            </a:extLst>
          </p:cNvPr>
          <p:cNvSpPr txBox="1"/>
          <p:nvPr/>
        </p:nvSpPr>
        <p:spPr>
          <a:xfrm>
            <a:off x="924508" y="1545792"/>
            <a:ext cx="715327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 (Body)"/>
              </a:rPr>
              <a:t>r: </a:t>
            </a:r>
            <a:r>
              <a:rPr lang="en-US" dirty="0" err="1">
                <a:latin typeface="Calibri (Body)"/>
              </a:rPr>
              <a:t>chỉ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đọc</a:t>
            </a:r>
            <a:endParaRPr lang="en-US" dirty="0">
              <a:latin typeface="Calibri (Body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 (Body)"/>
              </a:rPr>
              <a:t>r+: </a:t>
            </a:r>
            <a:r>
              <a:rPr lang="en-US" dirty="0" err="1">
                <a:latin typeface="Calibri (Body)"/>
              </a:rPr>
              <a:t>đọc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và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ghi</a:t>
            </a:r>
            <a:endParaRPr lang="en-US" dirty="0">
              <a:latin typeface="Calibri (Body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 (Body)"/>
              </a:rPr>
              <a:t>w: </a:t>
            </a:r>
            <a:r>
              <a:rPr lang="en-US" dirty="0" err="1">
                <a:latin typeface="Calibri (Body)"/>
              </a:rPr>
              <a:t>ghi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đè</a:t>
            </a:r>
            <a:endParaRPr lang="en-US" dirty="0">
              <a:latin typeface="Calibri (Body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 (Body)"/>
              </a:rPr>
              <a:t>w+: </a:t>
            </a:r>
            <a:r>
              <a:rPr lang="en-US" dirty="0" err="1">
                <a:latin typeface="Calibri (Body)"/>
              </a:rPr>
              <a:t>đọc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và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ghi</a:t>
            </a:r>
            <a:r>
              <a:rPr lang="en-US" dirty="0">
                <a:latin typeface="Calibri (Body)"/>
              </a:rPr>
              <a:t> (</a:t>
            </a:r>
            <a:r>
              <a:rPr lang="en-US" dirty="0" err="1">
                <a:latin typeface="Calibri (Body)"/>
              </a:rPr>
              <a:t>ghi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đè</a:t>
            </a:r>
            <a:r>
              <a:rPr lang="en-US" dirty="0">
                <a:latin typeface="Calibri (Body)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 (Body)"/>
              </a:rPr>
              <a:t>a: </a:t>
            </a:r>
            <a:r>
              <a:rPr lang="en-US" dirty="0" err="1">
                <a:latin typeface="Calibri (Body)"/>
              </a:rPr>
              <a:t>ghi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tiếp</a:t>
            </a:r>
            <a:endParaRPr lang="en-US" dirty="0">
              <a:latin typeface="Calibri (Body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 (Body)"/>
              </a:rPr>
              <a:t>a+: </a:t>
            </a:r>
            <a:r>
              <a:rPr lang="en-US" dirty="0" err="1">
                <a:latin typeface="Calibri (Body)"/>
              </a:rPr>
              <a:t>đọc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và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ghi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tiếp</a:t>
            </a:r>
            <a:endParaRPr lang="en-US" dirty="0">
              <a:latin typeface="Calibri (Body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 (Body)"/>
              </a:rPr>
              <a:t>b: file </a:t>
            </a:r>
            <a:r>
              <a:rPr lang="en-US" dirty="0" err="1">
                <a:latin typeface="Calibri (Body)"/>
              </a:rPr>
              <a:t>nhị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phân</a:t>
            </a:r>
            <a:endParaRPr lang="en-US" dirty="0"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1921404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7587"/>
            <a:ext cx="10131425" cy="725186"/>
          </a:xfrm>
        </p:spPr>
        <p:txBody>
          <a:bodyPr/>
          <a:lstStyle/>
          <a:p>
            <a:r>
              <a:rPr lang="en-US" b="1" dirty="0" err="1"/>
              <a:t>Đóng</a:t>
            </a:r>
            <a:r>
              <a:rPr lang="en-US" b="1" dirty="0"/>
              <a:t> file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BBFC32-8DC4-2CF7-F37B-97089467A736}"/>
              </a:ext>
            </a:extLst>
          </p:cNvPr>
          <p:cNvSpPr txBox="1"/>
          <p:nvPr/>
        </p:nvSpPr>
        <p:spPr>
          <a:xfrm>
            <a:off x="924506" y="1310974"/>
            <a:ext cx="715327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Calibri (Body)"/>
              </a:rPr>
              <a:t>Ví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dụ</a:t>
            </a:r>
            <a:r>
              <a:rPr lang="en-US" dirty="0">
                <a:latin typeface="Calibri (Body)"/>
              </a:rPr>
              <a:t>:</a:t>
            </a:r>
          </a:p>
          <a:p>
            <a:r>
              <a:rPr lang="en-US" dirty="0">
                <a:latin typeface="Calibri (Body)"/>
              </a:rPr>
              <a:t>file = open(‘test.txt’, ‘w’, encoding=‘utf-8’)</a:t>
            </a:r>
          </a:p>
          <a:p>
            <a:r>
              <a:rPr lang="en-US" dirty="0" err="1">
                <a:latin typeface="Calibri (Body)"/>
              </a:rPr>
              <a:t>file.write</a:t>
            </a:r>
            <a:r>
              <a:rPr lang="en-US" dirty="0">
                <a:latin typeface="Calibri (Body)"/>
              </a:rPr>
              <a:t>(‘Hello’)</a:t>
            </a:r>
          </a:p>
          <a:p>
            <a:r>
              <a:rPr lang="en-US" dirty="0" err="1">
                <a:latin typeface="Calibri (Body)"/>
              </a:rPr>
              <a:t>file.close</a:t>
            </a:r>
            <a:r>
              <a:rPr lang="en-US" dirty="0">
                <a:latin typeface="Calibri (Body)"/>
              </a:rPr>
              <a:t>()</a:t>
            </a:r>
          </a:p>
          <a:p>
            <a:endParaRPr lang="en-US" dirty="0">
              <a:latin typeface="Calibri (Body)"/>
            </a:endParaRPr>
          </a:p>
          <a:p>
            <a:r>
              <a:rPr lang="en-US" dirty="0" err="1">
                <a:latin typeface="Calibri (Body)"/>
              </a:rPr>
              <a:t>Lưu</a:t>
            </a:r>
            <a:r>
              <a:rPr lang="en-US" dirty="0">
                <a:latin typeface="Calibri (Body)"/>
              </a:rPr>
              <a:t> ý: </a:t>
            </a:r>
            <a:r>
              <a:rPr lang="en-US" dirty="0" err="1">
                <a:latin typeface="Calibri (Body)"/>
              </a:rPr>
              <a:t>Quên</a:t>
            </a:r>
            <a:r>
              <a:rPr lang="en-US" dirty="0">
                <a:latin typeface="Calibri (Body)"/>
              </a:rPr>
              <a:t> close() </a:t>
            </a:r>
            <a:r>
              <a:rPr lang="en-US" dirty="0" err="1">
                <a:latin typeface="Calibri (Body)"/>
              </a:rPr>
              <a:t>có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thể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gây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lỗi</a:t>
            </a:r>
            <a:endParaRPr lang="en-US" dirty="0">
              <a:latin typeface="Calibri (Body)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9A634F-E52D-CE65-3E9B-7D6375CD737E}"/>
              </a:ext>
            </a:extLst>
          </p:cNvPr>
          <p:cNvSpPr txBox="1"/>
          <p:nvPr/>
        </p:nvSpPr>
        <p:spPr>
          <a:xfrm>
            <a:off x="924506" y="5085361"/>
            <a:ext cx="71532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 (Body)"/>
              </a:rPr>
              <a:t>with open(‘test.txt’, ‘w’, encoding=‘utf-8’) as f: </a:t>
            </a:r>
            <a:r>
              <a:rPr lang="en-US" dirty="0" err="1">
                <a:latin typeface="Calibri (Body)"/>
              </a:rPr>
              <a:t>f.write</a:t>
            </a:r>
            <a:r>
              <a:rPr lang="en-US" dirty="0">
                <a:latin typeface="Calibri (Body)"/>
              </a:rPr>
              <a:t>(‘Hello’)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alibri (Body)"/>
              </a:rPr>
              <a:t>Tự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động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đóng</a:t>
            </a:r>
            <a:r>
              <a:rPr lang="en-US" dirty="0">
                <a:latin typeface="Calibri (Body)"/>
              </a:rPr>
              <a:t>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 (Body)"/>
              </a:rPr>
              <a:t>An </a:t>
            </a:r>
            <a:r>
              <a:rPr lang="en-US" dirty="0" err="1">
                <a:latin typeface="Calibri (Body)"/>
              </a:rPr>
              <a:t>toàn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hơn</a:t>
            </a:r>
            <a:endParaRPr lang="en-US" dirty="0">
              <a:latin typeface="Calibri (Body)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A9D1A31-BEBE-57A7-747E-6DF927BC3C45}"/>
              </a:ext>
            </a:extLst>
          </p:cNvPr>
          <p:cNvSpPr txBox="1">
            <a:spLocks/>
          </p:cNvSpPr>
          <p:nvPr/>
        </p:nvSpPr>
        <p:spPr>
          <a:xfrm>
            <a:off x="685800" y="4102901"/>
            <a:ext cx="10131425" cy="72518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/>
              <a:t>With open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05493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7587"/>
            <a:ext cx="10131425" cy="725186"/>
          </a:xfrm>
        </p:spPr>
        <p:txBody>
          <a:bodyPr/>
          <a:lstStyle/>
          <a:p>
            <a:r>
              <a:rPr lang="en-US" b="1" dirty="0" err="1"/>
              <a:t>Đọc</a:t>
            </a:r>
            <a:r>
              <a:rPr lang="en-US" b="1" dirty="0"/>
              <a:t> file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BBFC32-8DC4-2CF7-F37B-97089467A736}"/>
              </a:ext>
            </a:extLst>
          </p:cNvPr>
          <p:cNvSpPr txBox="1"/>
          <p:nvPr/>
        </p:nvSpPr>
        <p:spPr>
          <a:xfrm>
            <a:off x="685797" y="1051833"/>
            <a:ext cx="715327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Calibri (Body)"/>
              </a:rPr>
              <a:t>f.read</a:t>
            </a:r>
            <a:r>
              <a:rPr lang="en-US" dirty="0">
                <a:latin typeface="Calibri (Body)"/>
              </a:rPr>
              <a:t>(size)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 (Body)"/>
              </a:rPr>
              <a:t>size: </a:t>
            </a:r>
            <a:r>
              <a:rPr lang="en-US" dirty="0" err="1">
                <a:latin typeface="Calibri (Body)"/>
              </a:rPr>
              <a:t>số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ký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tự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cần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học</a:t>
            </a:r>
            <a:endParaRPr lang="en-US" dirty="0">
              <a:latin typeface="Calibri (Body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alibri (Body)"/>
              </a:rPr>
              <a:t>Nếu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bỏ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trống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thì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sẽ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đọc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toàn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bộ</a:t>
            </a:r>
            <a:r>
              <a:rPr lang="en-US" dirty="0">
                <a:latin typeface="Calibri (Body)"/>
              </a:rPr>
              <a:t> file</a:t>
            </a:r>
          </a:p>
          <a:p>
            <a:endParaRPr lang="en-US" dirty="0">
              <a:latin typeface="Calibri (Body)"/>
            </a:endParaRPr>
          </a:p>
          <a:p>
            <a:r>
              <a:rPr lang="en-US" dirty="0" err="1">
                <a:latin typeface="Calibri (Body)"/>
              </a:rPr>
              <a:t>Ví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dụ</a:t>
            </a:r>
            <a:r>
              <a:rPr lang="en-US" dirty="0">
                <a:latin typeface="Calibri (Body)"/>
              </a:rPr>
              <a:t>:</a:t>
            </a:r>
          </a:p>
          <a:p>
            <a:r>
              <a:rPr lang="en-US" dirty="0">
                <a:latin typeface="Calibri (Body)"/>
              </a:rPr>
              <a:t>with open(‘test.txt’, ‘r’, encoding=‘utf-8’) as f:data = </a:t>
            </a:r>
            <a:r>
              <a:rPr lang="en-US" dirty="0" err="1">
                <a:latin typeface="Calibri (Body)"/>
              </a:rPr>
              <a:t>f.read</a:t>
            </a:r>
            <a:r>
              <a:rPr lang="en-US" dirty="0">
                <a:latin typeface="Calibri (Body)"/>
              </a:rPr>
              <a:t>()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8D31F74-050B-1DE1-9C49-630D1C9A3C2E}"/>
              </a:ext>
            </a:extLst>
          </p:cNvPr>
          <p:cNvSpPr txBox="1">
            <a:spLocks/>
          </p:cNvSpPr>
          <p:nvPr/>
        </p:nvSpPr>
        <p:spPr>
          <a:xfrm>
            <a:off x="685800" y="3429000"/>
            <a:ext cx="10131425" cy="72518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 err="1"/>
              <a:t>ghi</a:t>
            </a:r>
            <a:r>
              <a:rPr lang="en-US" b="1" dirty="0"/>
              <a:t> file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9A569C-ABE7-C0DA-8A6F-5ADC6653AE46}"/>
              </a:ext>
            </a:extLst>
          </p:cNvPr>
          <p:cNvSpPr txBox="1"/>
          <p:nvPr/>
        </p:nvSpPr>
        <p:spPr>
          <a:xfrm>
            <a:off x="685797" y="4195927"/>
            <a:ext cx="715327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 (Body)"/>
              </a:rPr>
              <a:t>w: </a:t>
            </a:r>
            <a:r>
              <a:rPr lang="en-US" dirty="0" err="1">
                <a:latin typeface="Calibri (Body)"/>
              </a:rPr>
              <a:t>ghi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đè</a:t>
            </a:r>
            <a:endParaRPr lang="en-US" dirty="0">
              <a:latin typeface="Calibri (Body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 (Body)"/>
              </a:rPr>
              <a:t>a: </a:t>
            </a:r>
            <a:r>
              <a:rPr lang="en-US" dirty="0" err="1">
                <a:latin typeface="Calibri (Body)"/>
              </a:rPr>
              <a:t>ghi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tiếp</a:t>
            </a:r>
            <a:endParaRPr lang="en-US" dirty="0">
              <a:latin typeface="Calibri (Body)"/>
            </a:endParaRPr>
          </a:p>
          <a:p>
            <a:endParaRPr lang="en-US" dirty="0">
              <a:latin typeface="Calibri (Body)"/>
            </a:endParaRPr>
          </a:p>
          <a:p>
            <a:r>
              <a:rPr lang="en-US" dirty="0" err="1">
                <a:latin typeface="Calibri (Body)"/>
              </a:rPr>
              <a:t>Ví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dụ</a:t>
            </a:r>
            <a:r>
              <a:rPr lang="en-US" dirty="0">
                <a:latin typeface="Calibri (Body)"/>
              </a:rPr>
              <a:t>:</a:t>
            </a:r>
          </a:p>
          <a:p>
            <a:r>
              <a:rPr lang="en-US" dirty="0">
                <a:latin typeface="Calibri (Body)"/>
              </a:rPr>
              <a:t>with open(‘test.txt’, ‘r’, encoding=‘utf-8’) as f:write(‘Xin </a:t>
            </a:r>
            <a:r>
              <a:rPr lang="en-US" dirty="0" err="1">
                <a:latin typeface="Calibri (Body)"/>
              </a:rPr>
              <a:t>chào</a:t>
            </a:r>
            <a:r>
              <a:rPr lang="en-US" dirty="0">
                <a:latin typeface="Calibri (Body)"/>
              </a:rPr>
              <a:t>’)</a:t>
            </a:r>
          </a:p>
        </p:txBody>
      </p:sp>
    </p:spTree>
    <p:extLst>
      <p:ext uri="{BB962C8B-B14F-4D97-AF65-F5344CB8AC3E}">
        <p14:creationId xmlns:p14="http://schemas.microsoft.com/office/powerpoint/2010/main" val="1028761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7587"/>
            <a:ext cx="10131425" cy="725186"/>
          </a:xfrm>
        </p:spPr>
        <p:txBody>
          <a:bodyPr/>
          <a:lstStyle/>
          <a:p>
            <a:r>
              <a:rPr lang="en-US" b="1" dirty="0" err="1"/>
              <a:t>Thuộc</a:t>
            </a:r>
            <a:r>
              <a:rPr lang="en-US" b="1" dirty="0"/>
              <a:t> </a:t>
            </a:r>
            <a:r>
              <a:rPr lang="en-US" b="1" dirty="0" err="1"/>
              <a:t>tính</a:t>
            </a:r>
            <a:r>
              <a:rPr lang="en-US" b="1" dirty="0"/>
              <a:t> file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BBFC32-8DC4-2CF7-F37B-97089467A736}"/>
              </a:ext>
            </a:extLst>
          </p:cNvPr>
          <p:cNvSpPr txBox="1"/>
          <p:nvPr/>
        </p:nvSpPr>
        <p:spPr>
          <a:xfrm>
            <a:off x="685797" y="1051833"/>
            <a:ext cx="715327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 (Body)"/>
              </a:rPr>
              <a:t>file.name: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alibri (Body)"/>
              </a:rPr>
              <a:t>file.mode</a:t>
            </a:r>
            <a:endParaRPr lang="en-US" dirty="0">
              <a:latin typeface="Calibri (Body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alibri (Body)"/>
              </a:rPr>
              <a:t>file.closed</a:t>
            </a:r>
            <a:endParaRPr lang="en-US" dirty="0">
              <a:latin typeface="Calibri (Body)"/>
            </a:endParaRPr>
          </a:p>
          <a:p>
            <a:endParaRPr lang="en-US" dirty="0">
              <a:latin typeface="Calibri (Body)"/>
            </a:endParaRPr>
          </a:p>
          <a:p>
            <a:r>
              <a:rPr lang="en-US" dirty="0" err="1">
                <a:latin typeface="Calibri (Body)"/>
              </a:rPr>
              <a:t>Ví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dụ</a:t>
            </a:r>
            <a:r>
              <a:rPr lang="en-US" dirty="0">
                <a:latin typeface="Calibri (Body)"/>
              </a:rPr>
              <a:t>:</a:t>
            </a:r>
          </a:p>
          <a:p>
            <a:r>
              <a:rPr lang="en-US" dirty="0">
                <a:latin typeface="Calibri (Body)"/>
              </a:rPr>
              <a:t>with open(‘test.txt’, ‘r’, encoding=‘utf-8’) as f: print(f.name)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8D31F74-050B-1DE1-9C49-630D1C9A3C2E}"/>
              </a:ext>
            </a:extLst>
          </p:cNvPr>
          <p:cNvSpPr txBox="1">
            <a:spLocks/>
          </p:cNvSpPr>
          <p:nvPr/>
        </p:nvSpPr>
        <p:spPr>
          <a:xfrm>
            <a:off x="685800" y="3429000"/>
            <a:ext cx="10131425" cy="72518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 err="1"/>
              <a:t>Tổng</a:t>
            </a:r>
            <a:r>
              <a:rPr lang="en-US" b="1" dirty="0"/>
              <a:t> </a:t>
            </a:r>
            <a:r>
              <a:rPr lang="en-US" b="1" dirty="0" err="1"/>
              <a:t>kết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9A569C-ABE7-C0DA-8A6F-5ADC6653AE46}"/>
              </a:ext>
            </a:extLst>
          </p:cNvPr>
          <p:cNvSpPr txBox="1"/>
          <p:nvPr/>
        </p:nvSpPr>
        <p:spPr>
          <a:xfrm>
            <a:off x="685797" y="4195927"/>
            <a:ext cx="71532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 (Body)"/>
              </a:rPr>
              <a:t>File </a:t>
            </a:r>
            <a:r>
              <a:rPr lang="en-US" dirty="0" err="1">
                <a:latin typeface="Calibri (Body)"/>
              </a:rPr>
              <a:t>giúp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lưu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dữ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liệu</a:t>
            </a:r>
            <a:endParaRPr lang="en-US" dirty="0">
              <a:latin typeface="Calibri (Body)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alibri (Body)"/>
              </a:rPr>
              <a:t>Sử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dụng</a:t>
            </a:r>
            <a:r>
              <a:rPr lang="en-US" dirty="0">
                <a:latin typeface="Calibri (Body)"/>
              </a:rPr>
              <a:t> open()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alibri (Body)"/>
              </a:rPr>
              <a:t>Luôn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đóng</a:t>
            </a:r>
            <a:r>
              <a:rPr lang="en-US" dirty="0">
                <a:latin typeface="Calibri (Body)"/>
              </a:rPr>
              <a:t> file </a:t>
            </a:r>
            <a:r>
              <a:rPr lang="en-US" dirty="0" err="1">
                <a:latin typeface="Calibri (Body)"/>
              </a:rPr>
              <a:t>hoặc</a:t>
            </a:r>
            <a:r>
              <a:rPr lang="en-US" dirty="0">
                <a:latin typeface="Calibri (Body)"/>
              </a:rPr>
              <a:t> </a:t>
            </a:r>
            <a:r>
              <a:rPr lang="en-US" dirty="0" err="1">
                <a:latin typeface="Calibri (Body)"/>
              </a:rPr>
              <a:t>dùng</a:t>
            </a:r>
            <a:r>
              <a:rPr lang="en-US" dirty="0">
                <a:latin typeface="Calibri (Body)"/>
              </a:rPr>
              <a:t> with</a:t>
            </a:r>
          </a:p>
        </p:txBody>
      </p:sp>
    </p:spTree>
    <p:extLst>
      <p:ext uri="{BB962C8B-B14F-4D97-AF65-F5344CB8AC3E}">
        <p14:creationId xmlns:p14="http://schemas.microsoft.com/office/powerpoint/2010/main" val="2176688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7587"/>
            <a:ext cx="10131425" cy="725186"/>
          </a:xfrm>
        </p:spPr>
        <p:txBody>
          <a:bodyPr/>
          <a:lstStyle/>
          <a:p>
            <a:r>
              <a:rPr lang="en-US" b="1" dirty="0" err="1"/>
              <a:t>Bài</a:t>
            </a:r>
            <a:r>
              <a:rPr lang="en-US" b="1" dirty="0"/>
              <a:t> </a:t>
            </a:r>
            <a:r>
              <a:rPr lang="en-US" b="1" dirty="0" err="1"/>
              <a:t>tập</a:t>
            </a:r>
            <a:endParaRPr lang="en-US" b="1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237F11C-CAFB-6A8B-B6D9-2642F91CBB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1690064"/>
            <a:ext cx="9447244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Bài 1 (Cơ bản)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vi-VN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Viết chương trình tạo file hello.txt và ghi nội dung "Hello Python“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Bài 2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vi-VN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Đọc nội dung file hello.txt và in ra màn hình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Bài 3</a:t>
            </a:r>
            <a:r>
              <a:rPr lang="en-US" altLang="en-US" sz="2000" dirty="0">
                <a:latin typeface="Arial" panose="020B0604020202020204" pitchFamily="34" charset="0"/>
              </a:rPr>
              <a:t>: </a:t>
            </a:r>
            <a:r>
              <a:rPr kumimoji="0" lang="vi-VN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Ghi thêm 1 dòng mới vào file mà không xóa nội dung cũ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Bài 4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vi-VN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Đọc 10 ký tự đầu tiên của file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Bài 5 (Trung bình)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vi-VN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Nhập tên từ bàn phím và lưu vào file names.txt (mỗi tên 1 dòng)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978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7587"/>
            <a:ext cx="10131425" cy="725186"/>
          </a:xfrm>
        </p:spPr>
        <p:txBody>
          <a:bodyPr/>
          <a:lstStyle/>
          <a:p>
            <a:r>
              <a:rPr lang="en-US" b="1" dirty="0" err="1"/>
              <a:t>Bài</a:t>
            </a:r>
            <a:r>
              <a:rPr lang="en-US" b="1" dirty="0"/>
              <a:t> </a:t>
            </a:r>
            <a:r>
              <a:rPr lang="en-US" b="1" dirty="0" err="1"/>
              <a:t>tập</a:t>
            </a:r>
            <a:endParaRPr lang="en-US" b="1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237F11C-CAFB-6A8B-B6D9-2642F91CBB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1382288"/>
            <a:ext cx="9447244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Bài 6</a:t>
            </a:r>
            <a:r>
              <a:rPr lang="en-US" altLang="en-US" sz="2000" dirty="0">
                <a:latin typeface="Arial" panose="020B0604020202020204" pitchFamily="34" charset="0"/>
              </a:rPr>
              <a:t>: </a:t>
            </a:r>
            <a:r>
              <a:rPr kumimoji="0" lang="vi-VN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Đọc file names.txt và đếm số dòng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Bài 7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vi-VN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Đếm số ký tự trong file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Bài 8 (Nâng cao)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vi-VN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Tạo file log.txt và ghi lại thời gian mỗi lần chạy chương trình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Bài 9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vi-VN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Đọc file và in ra các dòng có độ dài &gt; 10 ký tự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Bài 10 (Nâng cao)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vi-VN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Viết chương trình quản lý danh sách sinh viên đơn giản: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vi-VN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Thêm sinh viên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vi-VN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Lưu vào file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vi-VN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Đọc và hiển thị danh sách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4704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3985</TotalTime>
  <Words>538</Words>
  <Application>Microsoft Office PowerPoint</Application>
  <PresentationFormat>Widescreen</PresentationFormat>
  <Paragraphs>83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(Body)</vt:lpstr>
      <vt:lpstr>Calibri Light</vt:lpstr>
      <vt:lpstr>Celestial</vt:lpstr>
      <vt:lpstr>LẬP TRÌNH PYTHON</vt:lpstr>
      <vt:lpstr>PYTHON FILE HANDLING (ĐỌC - GHI FILE)</vt:lpstr>
      <vt:lpstr>Mở file</vt:lpstr>
      <vt:lpstr>Các chế độ mở file</vt:lpstr>
      <vt:lpstr>Đóng file</vt:lpstr>
      <vt:lpstr>Đọc file</vt:lpstr>
      <vt:lpstr>Thuộc tính file</vt:lpstr>
      <vt:lpstr>Bài tập</vt:lpstr>
      <vt:lpstr>Bài tập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LẬP TRÌNH SCRATCH</dc:title>
  <dc:creator>Duc Tung</dc:creator>
  <cp:lastModifiedBy>Administrator</cp:lastModifiedBy>
  <cp:revision>169</cp:revision>
  <dcterms:created xsi:type="dcterms:W3CDTF">2023-07-04T14:52:20Z</dcterms:created>
  <dcterms:modified xsi:type="dcterms:W3CDTF">2026-05-06T09:03:47Z</dcterms:modified>
</cp:coreProperties>
</file>