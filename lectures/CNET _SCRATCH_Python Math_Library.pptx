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72" r:id="rId4"/>
    <p:sldId id="273" r:id="rId5"/>
    <p:sldId id="274" r:id="rId6"/>
    <p:sldId id="276" r:id="rId7"/>
    <p:sldId id="27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08" autoAdjust="0"/>
    <p:restoredTop sz="94660"/>
  </p:normalViewPr>
  <p:slideViewPr>
    <p:cSldViewPr snapToGrid="0">
      <p:cViewPr>
        <p:scale>
          <a:sx n="75" d="100"/>
          <a:sy n="75" d="100"/>
        </p:scale>
        <p:origin x="122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/>
              <a:t>LẬP TRÌNH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/>
              <a:t>CON ĐƯỜNG TRỞ THÀNH LẬP TRÌNH VIÊN PYTHON CHUYÊN NGHIỆP</a:t>
            </a:r>
          </a:p>
        </p:txBody>
      </p:sp>
    </p:spTree>
    <p:extLst>
      <p:ext uri="{BB962C8B-B14F-4D97-AF65-F5344CB8AC3E}">
        <p14:creationId xmlns:p14="http://schemas.microsoft.com/office/powerpoint/2010/main" val="121865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385158"/>
            <a:ext cx="10131425" cy="725186"/>
          </a:xfrm>
        </p:spPr>
        <p:txBody>
          <a:bodyPr/>
          <a:lstStyle/>
          <a:p>
            <a:r>
              <a:rPr lang="en-US" b="1" dirty="0" err="1"/>
              <a:t>Thư</a:t>
            </a:r>
            <a:r>
              <a:rPr lang="en-US" b="1" dirty="0"/>
              <a:t> </a:t>
            </a:r>
            <a:r>
              <a:rPr lang="en-US" b="1" dirty="0" err="1"/>
              <a:t>viện</a:t>
            </a:r>
            <a:r>
              <a:rPr lang="en-US" b="1" dirty="0"/>
              <a:t> math </a:t>
            </a:r>
            <a:r>
              <a:rPr lang="en-US" b="1" dirty="0" err="1"/>
              <a:t>trong</a:t>
            </a:r>
            <a:r>
              <a:rPr lang="en-US" b="1" dirty="0"/>
              <a:t>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2" y="1110345"/>
            <a:ext cx="9606278" cy="5610418"/>
          </a:xfrm>
        </p:spPr>
        <p:txBody>
          <a:bodyPr anchor="t" anchorCtr="0">
            <a:normAutofit/>
          </a:bodyPr>
          <a:lstStyle/>
          <a:p>
            <a:r>
              <a:rPr lang="en-US" dirty="0">
                <a:latin typeface="Calibri (Body)"/>
              </a:rPr>
              <a:t>Math </a:t>
            </a:r>
            <a:r>
              <a:rPr lang="en-US" dirty="0" err="1">
                <a:latin typeface="Calibri (Body)"/>
              </a:rPr>
              <a:t>là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thư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viện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tiêu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chuẩn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trong</a:t>
            </a:r>
            <a:r>
              <a:rPr lang="en-US" dirty="0">
                <a:latin typeface="Calibri (Body)"/>
              </a:rPr>
              <a:t> Python </a:t>
            </a:r>
            <a:r>
              <a:rPr lang="en-US" dirty="0" err="1">
                <a:latin typeface="Calibri (Body)"/>
              </a:rPr>
              <a:t>cung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cấp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các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hàm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toán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học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mạnh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mẽ</a:t>
            </a:r>
            <a:r>
              <a:rPr lang="en-US" dirty="0">
                <a:latin typeface="Calibri (Body)"/>
              </a:rPr>
              <a:t>.</a:t>
            </a:r>
          </a:p>
          <a:p>
            <a:r>
              <a:rPr lang="en-US" dirty="0" err="1">
                <a:latin typeface="Calibri (Body)"/>
              </a:rPr>
              <a:t>Để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sử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dụng</a:t>
            </a:r>
            <a:r>
              <a:rPr lang="en-US" dirty="0">
                <a:latin typeface="Calibri (Body)"/>
              </a:rPr>
              <a:t>, ta </a:t>
            </a:r>
            <a:r>
              <a:rPr lang="en-US" dirty="0" err="1">
                <a:latin typeface="Calibri (Body)"/>
              </a:rPr>
              <a:t>cần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khai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báo</a:t>
            </a:r>
            <a:r>
              <a:rPr lang="en-US" dirty="0">
                <a:latin typeface="Calibri (Body)"/>
              </a:rPr>
              <a:t>: </a:t>
            </a:r>
            <a:r>
              <a:rPr lang="en-US" b="1" dirty="0">
                <a:latin typeface="Calibri (Body)"/>
              </a:rPr>
              <a:t>import math</a:t>
            </a:r>
          </a:p>
          <a:p>
            <a:r>
              <a:rPr lang="en-US" dirty="0" err="1">
                <a:latin typeface="Calibri (Body)"/>
              </a:rPr>
              <a:t>Thư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viện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giúp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giải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quyết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các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bài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toán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về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lượng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giác</a:t>
            </a:r>
            <a:r>
              <a:rPr lang="en-US" dirty="0">
                <a:latin typeface="Calibri (Body)"/>
              </a:rPr>
              <a:t>, </a:t>
            </a:r>
            <a:r>
              <a:rPr lang="en-US" dirty="0" err="1">
                <a:latin typeface="Calibri (Body)"/>
              </a:rPr>
              <a:t>logarit</a:t>
            </a:r>
            <a:r>
              <a:rPr lang="en-US" dirty="0">
                <a:latin typeface="Calibri (Body)"/>
              </a:rPr>
              <a:t>, </a:t>
            </a:r>
            <a:r>
              <a:rPr lang="en-US" dirty="0" err="1">
                <a:latin typeface="Calibri (Body)"/>
              </a:rPr>
              <a:t>làm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tròn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số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và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các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hằng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số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toán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học</a:t>
            </a:r>
            <a:endParaRPr lang="en-US" dirty="0">
              <a:latin typeface="Calibri (Body)"/>
            </a:endParaRPr>
          </a:p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05C77A88-D4C9-716D-C6D2-6FBA44613D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 descr="A logo for a computer program&#10;&#10;AI-generated content may be incorrect.">
            <a:extLst>
              <a:ext uri="{FF2B5EF4-FFF2-40B4-BE49-F238E27FC236}">
                <a16:creationId xmlns:a16="http://schemas.microsoft.com/office/drawing/2014/main" id="{19BA9F46-0733-17CB-9347-5FB1BC8C1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410" y="2289310"/>
            <a:ext cx="6647180" cy="443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085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7587"/>
            <a:ext cx="10131425" cy="725186"/>
          </a:xfrm>
        </p:spPr>
        <p:txBody>
          <a:bodyPr/>
          <a:lstStyle/>
          <a:p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hàm</a:t>
            </a:r>
            <a:r>
              <a:rPr lang="en-US" b="1" dirty="0"/>
              <a:t> </a:t>
            </a:r>
            <a:r>
              <a:rPr lang="en-US" b="1" dirty="0" err="1"/>
              <a:t>thông</a:t>
            </a:r>
            <a:r>
              <a:rPr lang="en-US" b="1" dirty="0"/>
              <a:t> </a:t>
            </a:r>
            <a:r>
              <a:rPr lang="en-US" b="1" dirty="0" err="1"/>
              <a:t>dụng</a:t>
            </a:r>
            <a:r>
              <a:rPr lang="en-US" b="1" dirty="0"/>
              <a:t> </a:t>
            </a:r>
            <a:r>
              <a:rPr lang="en-US" b="1" dirty="0" err="1"/>
              <a:t>trong</a:t>
            </a:r>
            <a:r>
              <a:rPr lang="en-US" b="1" dirty="0"/>
              <a:t> math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AE68B37-40C4-72F6-FDC2-DFA8F50EFF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086257"/>
              </p:ext>
            </p:extLst>
          </p:nvPr>
        </p:nvGraphicFramePr>
        <p:xfrm>
          <a:off x="1108924" y="1457856"/>
          <a:ext cx="10016277" cy="478038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38759">
                  <a:extLst>
                    <a:ext uri="{9D8B030D-6E8A-4147-A177-3AD203B41FA5}">
                      <a16:colId xmlns:a16="http://schemas.microsoft.com/office/drawing/2014/main" val="134473196"/>
                    </a:ext>
                  </a:extLst>
                </a:gridCol>
                <a:gridCol w="3338759">
                  <a:extLst>
                    <a:ext uri="{9D8B030D-6E8A-4147-A177-3AD203B41FA5}">
                      <a16:colId xmlns:a16="http://schemas.microsoft.com/office/drawing/2014/main" val="270612750"/>
                    </a:ext>
                  </a:extLst>
                </a:gridCol>
                <a:gridCol w="3338759">
                  <a:extLst>
                    <a:ext uri="{9D8B030D-6E8A-4147-A177-3AD203B41FA5}">
                      <a16:colId xmlns:a16="http://schemas.microsoft.com/office/drawing/2014/main" val="1914762391"/>
                    </a:ext>
                  </a:extLst>
                </a:gridCol>
              </a:tblGrid>
              <a:tr h="444019">
                <a:tc>
                  <a:txBody>
                    <a:bodyPr/>
                    <a:lstStyle/>
                    <a:p>
                      <a:r>
                        <a:rPr lang="en-US" sz="1700" b="1">
                          <a:effectLst/>
                        </a:rPr>
                        <a:t>Nhóm chức năng</a:t>
                      </a:r>
                      <a:endParaRPr lang="en-US" sz="1700">
                        <a:effectLst/>
                        <a:latin typeface="Google Sans Text"/>
                      </a:endParaRPr>
                    </a:p>
                  </a:txBody>
                  <a:tcPr marL="84876" marR="84876" marT="42438" marB="42438" anchor="ctr"/>
                </a:tc>
                <a:tc>
                  <a:txBody>
                    <a:bodyPr/>
                    <a:lstStyle/>
                    <a:p>
                      <a:r>
                        <a:rPr lang="en-US" sz="1700" b="1">
                          <a:effectLst/>
                        </a:rPr>
                        <a:t>Hàm thông dụng</a:t>
                      </a:r>
                      <a:endParaRPr lang="en-US" sz="1700">
                        <a:effectLst/>
                        <a:latin typeface="Google Sans Text"/>
                      </a:endParaRPr>
                    </a:p>
                  </a:txBody>
                  <a:tcPr marL="84876" marR="84876" marT="42438" marB="42438" anchor="ctr"/>
                </a:tc>
                <a:tc>
                  <a:txBody>
                    <a:bodyPr/>
                    <a:lstStyle/>
                    <a:p>
                      <a:r>
                        <a:rPr lang="en-US" sz="1700" b="1">
                          <a:effectLst/>
                        </a:rPr>
                        <a:t>Ý nghĩa</a:t>
                      </a:r>
                      <a:endParaRPr lang="en-US" sz="1700">
                        <a:effectLst/>
                        <a:latin typeface="Google Sans Text"/>
                      </a:endParaRPr>
                    </a:p>
                  </a:txBody>
                  <a:tcPr marL="84876" marR="84876" marT="42438" marB="42438" anchor="ctr"/>
                </a:tc>
                <a:extLst>
                  <a:ext uri="{0D108BD9-81ED-4DB2-BD59-A6C34878D82A}">
                    <a16:rowId xmlns:a16="http://schemas.microsoft.com/office/drawing/2014/main" val="759124131"/>
                  </a:ext>
                </a:extLst>
              </a:tr>
              <a:tr h="778469">
                <a:tc>
                  <a:txBody>
                    <a:bodyPr/>
                    <a:lstStyle/>
                    <a:p>
                      <a:r>
                        <a:rPr lang="en-US" sz="1700" b="1">
                          <a:effectLst/>
                        </a:rPr>
                        <a:t>Hằng số</a:t>
                      </a:r>
                      <a:endParaRPr lang="en-US" sz="1700">
                        <a:effectLst/>
                        <a:latin typeface="Google Sans Text"/>
                      </a:endParaRPr>
                    </a:p>
                  </a:txBody>
                  <a:tcPr marL="84876" marR="84876" marT="42438" marB="42438" anchor="ctr"/>
                </a:tc>
                <a:tc>
                  <a:txBody>
                    <a:bodyPr/>
                    <a:lstStyle/>
                    <a:p>
                      <a:r>
                        <a:rPr lang="en-US" sz="1700" dirty="0" err="1">
                          <a:effectLst/>
                        </a:rPr>
                        <a:t>math.pi</a:t>
                      </a:r>
                      <a:r>
                        <a:rPr lang="en-US" sz="1700" dirty="0">
                          <a:effectLst/>
                        </a:rPr>
                        <a:t>, </a:t>
                      </a:r>
                      <a:r>
                        <a:rPr lang="en-US" sz="1700" dirty="0" err="1">
                          <a:effectLst/>
                        </a:rPr>
                        <a:t>math.e</a:t>
                      </a:r>
                      <a:endParaRPr lang="en-US" sz="1700" dirty="0">
                        <a:effectLst/>
                        <a:latin typeface="Google Sans Text"/>
                      </a:endParaRPr>
                    </a:p>
                  </a:txBody>
                  <a:tcPr marL="84876" marR="84876" marT="42438" marB="42438" anchor="ctr"/>
                </a:tc>
                <a:tc>
                  <a:txBody>
                    <a:bodyPr/>
                    <a:lstStyle/>
                    <a:p>
                      <a:r>
                        <a:rPr lang="it-IT" sz="1700" dirty="0">
                          <a:effectLst/>
                        </a:rPr>
                        <a:t>Số Pi (~3.14) và số e (~2.71)</a:t>
                      </a:r>
                      <a:endParaRPr lang="it-IT" sz="1700" dirty="0">
                        <a:effectLst/>
                        <a:latin typeface="Google Sans Text"/>
                      </a:endParaRPr>
                    </a:p>
                  </a:txBody>
                  <a:tcPr marL="84876" marR="84876" marT="42438" marB="42438" anchor="ctr"/>
                </a:tc>
                <a:extLst>
                  <a:ext uri="{0D108BD9-81ED-4DB2-BD59-A6C34878D82A}">
                    <a16:rowId xmlns:a16="http://schemas.microsoft.com/office/drawing/2014/main" val="1743595465"/>
                  </a:ext>
                </a:extLst>
              </a:tr>
              <a:tr h="778469">
                <a:tc>
                  <a:txBody>
                    <a:bodyPr/>
                    <a:lstStyle/>
                    <a:p>
                      <a:r>
                        <a:rPr lang="en-US" sz="1700" b="1">
                          <a:effectLst/>
                        </a:rPr>
                        <a:t>Làm tròn</a:t>
                      </a:r>
                      <a:endParaRPr lang="en-US" sz="1700">
                        <a:effectLst/>
                        <a:latin typeface="Google Sans Text"/>
                      </a:endParaRPr>
                    </a:p>
                  </a:txBody>
                  <a:tcPr marL="84876" marR="84876" marT="42438" marB="42438" anchor="ctr"/>
                </a:tc>
                <a:tc>
                  <a:txBody>
                    <a:bodyPr/>
                    <a:lstStyle/>
                    <a:p>
                      <a:r>
                        <a:rPr lang="en-US" sz="1700" dirty="0" err="1">
                          <a:effectLst/>
                        </a:rPr>
                        <a:t>math.ceil</a:t>
                      </a:r>
                      <a:r>
                        <a:rPr lang="en-US" sz="1700" dirty="0">
                          <a:effectLst/>
                        </a:rPr>
                        <a:t>(x), </a:t>
                      </a:r>
                      <a:r>
                        <a:rPr lang="en-US" sz="1700" dirty="0" err="1">
                          <a:effectLst/>
                        </a:rPr>
                        <a:t>math.floor</a:t>
                      </a:r>
                      <a:r>
                        <a:rPr lang="en-US" sz="1700" dirty="0">
                          <a:effectLst/>
                        </a:rPr>
                        <a:t>(x)</a:t>
                      </a:r>
                      <a:endParaRPr lang="en-US" sz="1700" dirty="0">
                        <a:effectLst/>
                        <a:latin typeface="Google Sans Text"/>
                      </a:endParaRPr>
                    </a:p>
                  </a:txBody>
                  <a:tcPr marL="84876" marR="84876" marT="42438" marB="42438" anchor="ctr"/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</a:rPr>
                        <a:t>Làm tròn lên và làm tròn xuống số nguyên gần nhất.</a:t>
                      </a:r>
                      <a:endParaRPr lang="en-US" sz="1700">
                        <a:effectLst/>
                        <a:latin typeface="Google Sans Text"/>
                      </a:endParaRPr>
                    </a:p>
                  </a:txBody>
                  <a:tcPr marL="84876" marR="84876" marT="42438" marB="42438" anchor="ctr"/>
                </a:tc>
                <a:extLst>
                  <a:ext uri="{0D108BD9-81ED-4DB2-BD59-A6C34878D82A}">
                    <a16:rowId xmlns:a16="http://schemas.microsoft.com/office/drawing/2014/main" val="3599913929"/>
                  </a:ext>
                </a:extLst>
              </a:tr>
              <a:tr h="444019">
                <a:tc>
                  <a:txBody>
                    <a:bodyPr/>
                    <a:lstStyle/>
                    <a:p>
                      <a:r>
                        <a:rPr lang="en-US" sz="1700" b="1" dirty="0" err="1">
                          <a:effectLst/>
                        </a:rPr>
                        <a:t>Lũy</a:t>
                      </a:r>
                      <a:r>
                        <a:rPr lang="en-US" sz="1700" b="1" dirty="0">
                          <a:effectLst/>
                        </a:rPr>
                        <a:t> </a:t>
                      </a:r>
                      <a:r>
                        <a:rPr lang="en-US" sz="1700" b="1" dirty="0" err="1">
                          <a:effectLst/>
                        </a:rPr>
                        <a:t>thừa</a:t>
                      </a:r>
                      <a:r>
                        <a:rPr lang="en-US" sz="1700" b="1" dirty="0">
                          <a:effectLst/>
                        </a:rPr>
                        <a:t>/</a:t>
                      </a:r>
                      <a:r>
                        <a:rPr lang="en-US" sz="1700" b="1" dirty="0" err="1">
                          <a:effectLst/>
                        </a:rPr>
                        <a:t>Căn</a:t>
                      </a:r>
                      <a:endParaRPr lang="en-US" sz="1700" dirty="0">
                        <a:effectLst/>
                        <a:latin typeface="Google Sans Text"/>
                      </a:endParaRPr>
                    </a:p>
                  </a:txBody>
                  <a:tcPr marL="84876" marR="84876" marT="42438" marB="42438" anchor="ctr"/>
                </a:tc>
                <a:tc>
                  <a:txBody>
                    <a:bodyPr/>
                    <a:lstStyle/>
                    <a:p>
                      <a:r>
                        <a:rPr lang="fr-FR" sz="1700">
                          <a:effectLst/>
                        </a:rPr>
                        <a:t>math.sqrt(x), math.pow(x, y)</a:t>
                      </a:r>
                      <a:endParaRPr lang="fr-FR" sz="1700">
                        <a:effectLst/>
                        <a:latin typeface="Google Sans Text"/>
                      </a:endParaRPr>
                    </a:p>
                  </a:txBody>
                  <a:tcPr marL="84876" marR="84876" marT="42438" marB="42438" anchor="ctr"/>
                </a:tc>
                <a:tc>
                  <a:txBody>
                    <a:bodyPr/>
                    <a:lstStyle/>
                    <a:p>
                      <a:r>
                        <a:rPr lang="en-US" sz="1700" dirty="0" err="1">
                          <a:effectLst/>
                        </a:rPr>
                        <a:t>Tính</a:t>
                      </a:r>
                      <a:r>
                        <a:rPr lang="en-US" sz="1700" dirty="0">
                          <a:effectLst/>
                        </a:rPr>
                        <a:t> </a:t>
                      </a:r>
                      <a:r>
                        <a:rPr lang="en-US" sz="1700" dirty="0" err="1">
                          <a:effectLst/>
                        </a:rPr>
                        <a:t>căn</a:t>
                      </a:r>
                      <a:r>
                        <a:rPr lang="en-US" sz="1700" dirty="0">
                          <a:effectLst/>
                        </a:rPr>
                        <a:t> </a:t>
                      </a:r>
                      <a:r>
                        <a:rPr lang="en-US" sz="1700" dirty="0" err="1">
                          <a:effectLst/>
                        </a:rPr>
                        <a:t>bậc</a:t>
                      </a:r>
                      <a:r>
                        <a:rPr lang="en-US" sz="1700" dirty="0">
                          <a:effectLst/>
                        </a:rPr>
                        <a:t> </a:t>
                      </a:r>
                      <a:r>
                        <a:rPr lang="en-US" sz="1700" dirty="0" err="1">
                          <a:effectLst/>
                        </a:rPr>
                        <a:t>hai</a:t>
                      </a:r>
                      <a:r>
                        <a:rPr lang="en-US" sz="1700" dirty="0">
                          <a:effectLst/>
                        </a:rPr>
                        <a:t> </a:t>
                      </a:r>
                      <a:r>
                        <a:rPr lang="en-US" sz="1700" dirty="0" err="1">
                          <a:effectLst/>
                        </a:rPr>
                        <a:t>và</a:t>
                      </a:r>
                      <a:r>
                        <a:rPr lang="en-US" sz="1700" dirty="0">
                          <a:effectLst/>
                        </a:rPr>
                        <a:t> </a:t>
                      </a:r>
                      <a:r>
                        <a:rPr lang="en-US" sz="1700" dirty="0" err="1">
                          <a:effectLst/>
                        </a:rPr>
                        <a:t>x^y</a:t>
                      </a:r>
                      <a:endParaRPr lang="en-US" sz="1700" dirty="0">
                        <a:effectLst/>
                        <a:latin typeface="Google Sans Text"/>
                      </a:endParaRPr>
                    </a:p>
                  </a:txBody>
                  <a:tcPr marL="84876" marR="84876" marT="42438" marB="42438" anchor="ctr"/>
                </a:tc>
                <a:extLst>
                  <a:ext uri="{0D108BD9-81ED-4DB2-BD59-A6C34878D82A}">
                    <a16:rowId xmlns:a16="http://schemas.microsoft.com/office/drawing/2014/main" val="1919221826"/>
                  </a:ext>
                </a:extLst>
              </a:tr>
              <a:tr h="778469">
                <a:tc>
                  <a:txBody>
                    <a:bodyPr/>
                    <a:lstStyle/>
                    <a:p>
                      <a:r>
                        <a:rPr lang="en-US" sz="1700" b="1">
                          <a:effectLst/>
                        </a:rPr>
                        <a:t>Giá trị tuyệt đối</a:t>
                      </a:r>
                      <a:endParaRPr lang="en-US" sz="1700">
                        <a:effectLst/>
                        <a:latin typeface="Google Sans Text"/>
                      </a:endParaRPr>
                    </a:p>
                  </a:txBody>
                  <a:tcPr marL="84876" marR="84876" marT="42438" marB="42438" anchor="ctr"/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</a:rPr>
                        <a:t>math.fabs(x)</a:t>
                      </a:r>
                      <a:endParaRPr lang="en-US" sz="1700">
                        <a:effectLst/>
                        <a:latin typeface="Google Sans Text"/>
                      </a:endParaRPr>
                    </a:p>
                  </a:txBody>
                  <a:tcPr marL="84876" marR="84876" marT="42438" marB="42438" anchor="ctr"/>
                </a:tc>
                <a:tc>
                  <a:txBody>
                    <a:bodyPr/>
                    <a:lstStyle/>
                    <a:p>
                      <a:r>
                        <a:rPr lang="en-US" sz="1700" dirty="0" err="1">
                          <a:effectLst/>
                        </a:rPr>
                        <a:t>Trả</a:t>
                      </a:r>
                      <a:r>
                        <a:rPr lang="en-US" sz="1700" dirty="0">
                          <a:effectLst/>
                        </a:rPr>
                        <a:t> </a:t>
                      </a:r>
                      <a:r>
                        <a:rPr lang="en-US" sz="1700" dirty="0" err="1">
                          <a:effectLst/>
                        </a:rPr>
                        <a:t>về</a:t>
                      </a:r>
                      <a:r>
                        <a:rPr lang="en-US" sz="1700" dirty="0">
                          <a:effectLst/>
                        </a:rPr>
                        <a:t> </a:t>
                      </a:r>
                      <a:r>
                        <a:rPr lang="en-US" sz="1700" dirty="0" err="1">
                          <a:effectLst/>
                        </a:rPr>
                        <a:t>giá</a:t>
                      </a:r>
                      <a:r>
                        <a:rPr lang="en-US" sz="1700" dirty="0">
                          <a:effectLst/>
                        </a:rPr>
                        <a:t> </a:t>
                      </a:r>
                      <a:r>
                        <a:rPr lang="en-US" sz="1700" dirty="0" err="1">
                          <a:effectLst/>
                        </a:rPr>
                        <a:t>trị</a:t>
                      </a:r>
                      <a:r>
                        <a:rPr lang="en-US" sz="1700" dirty="0">
                          <a:effectLst/>
                        </a:rPr>
                        <a:t> </a:t>
                      </a:r>
                      <a:r>
                        <a:rPr lang="en-US" sz="1700" dirty="0" err="1">
                          <a:effectLst/>
                        </a:rPr>
                        <a:t>tuyệt</a:t>
                      </a:r>
                      <a:r>
                        <a:rPr lang="en-US" sz="1700" dirty="0">
                          <a:effectLst/>
                        </a:rPr>
                        <a:t> </a:t>
                      </a:r>
                      <a:r>
                        <a:rPr lang="en-US" sz="1700" dirty="0" err="1">
                          <a:effectLst/>
                        </a:rPr>
                        <a:t>đối</a:t>
                      </a:r>
                      <a:r>
                        <a:rPr lang="en-US" sz="1700" dirty="0">
                          <a:effectLst/>
                        </a:rPr>
                        <a:t> </a:t>
                      </a:r>
                      <a:r>
                        <a:rPr lang="en-US" sz="1700" dirty="0" err="1">
                          <a:effectLst/>
                        </a:rPr>
                        <a:t>của</a:t>
                      </a:r>
                      <a:r>
                        <a:rPr lang="en-US" sz="1700" dirty="0">
                          <a:effectLst/>
                        </a:rPr>
                        <a:t> x (</a:t>
                      </a:r>
                      <a:r>
                        <a:rPr lang="en-US" sz="1700" dirty="0" err="1">
                          <a:effectLst/>
                        </a:rPr>
                        <a:t>dạng</a:t>
                      </a:r>
                      <a:r>
                        <a:rPr lang="en-US" sz="1700" dirty="0">
                          <a:effectLst/>
                        </a:rPr>
                        <a:t> </a:t>
                      </a:r>
                      <a:r>
                        <a:rPr lang="en-US" sz="1700" dirty="0" err="1">
                          <a:effectLst/>
                        </a:rPr>
                        <a:t>số</a:t>
                      </a:r>
                      <a:r>
                        <a:rPr lang="en-US" sz="1700" dirty="0">
                          <a:effectLst/>
                        </a:rPr>
                        <a:t> </a:t>
                      </a:r>
                      <a:r>
                        <a:rPr lang="en-US" sz="1700" dirty="0" err="1">
                          <a:effectLst/>
                        </a:rPr>
                        <a:t>thực</a:t>
                      </a:r>
                      <a:r>
                        <a:rPr lang="en-US" sz="1700" dirty="0">
                          <a:effectLst/>
                        </a:rPr>
                        <a:t>).</a:t>
                      </a:r>
                      <a:endParaRPr lang="en-US" sz="1700" dirty="0">
                        <a:effectLst/>
                        <a:latin typeface="Google Sans Text"/>
                      </a:endParaRPr>
                    </a:p>
                  </a:txBody>
                  <a:tcPr marL="84876" marR="84876" marT="42438" marB="42438" anchor="ctr"/>
                </a:tc>
                <a:extLst>
                  <a:ext uri="{0D108BD9-81ED-4DB2-BD59-A6C34878D82A}">
                    <a16:rowId xmlns:a16="http://schemas.microsoft.com/office/drawing/2014/main" val="1680338909"/>
                  </a:ext>
                </a:extLst>
              </a:tr>
              <a:tr h="778469">
                <a:tc>
                  <a:txBody>
                    <a:bodyPr/>
                    <a:lstStyle/>
                    <a:p>
                      <a:r>
                        <a:rPr lang="vi-VN" sz="1700" b="1">
                          <a:effectLst/>
                        </a:rPr>
                        <a:t>Ước chung</a:t>
                      </a:r>
                      <a:endParaRPr lang="vi-VN" sz="1700">
                        <a:effectLst/>
                        <a:latin typeface="Google Sans Text"/>
                      </a:endParaRPr>
                    </a:p>
                  </a:txBody>
                  <a:tcPr marL="84876" marR="84876" marT="42438" marB="42438" anchor="ctr"/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</a:rPr>
                        <a:t>math.gcd(a, b)</a:t>
                      </a:r>
                      <a:endParaRPr lang="en-US" sz="1700">
                        <a:effectLst/>
                        <a:latin typeface="Google Sans Text"/>
                      </a:endParaRPr>
                    </a:p>
                  </a:txBody>
                  <a:tcPr marL="84876" marR="84876" marT="42438" marB="42438" anchor="ctr"/>
                </a:tc>
                <a:tc>
                  <a:txBody>
                    <a:bodyPr/>
                    <a:lstStyle/>
                    <a:p>
                      <a:r>
                        <a:rPr lang="vi-VN" sz="1700">
                          <a:effectLst/>
                        </a:rPr>
                        <a:t>Tìm ước chung lớn nhất của hai số nguyên.</a:t>
                      </a:r>
                      <a:endParaRPr lang="vi-VN" sz="1700">
                        <a:effectLst/>
                        <a:latin typeface="Google Sans Text"/>
                      </a:endParaRPr>
                    </a:p>
                  </a:txBody>
                  <a:tcPr marL="84876" marR="84876" marT="42438" marB="42438" anchor="ctr"/>
                </a:tc>
                <a:extLst>
                  <a:ext uri="{0D108BD9-81ED-4DB2-BD59-A6C34878D82A}">
                    <a16:rowId xmlns:a16="http://schemas.microsoft.com/office/drawing/2014/main" val="3068797910"/>
                  </a:ext>
                </a:extLst>
              </a:tr>
              <a:tr h="778469">
                <a:tc>
                  <a:txBody>
                    <a:bodyPr/>
                    <a:lstStyle/>
                    <a:p>
                      <a:r>
                        <a:rPr lang="en-US" sz="1700" b="1">
                          <a:effectLst/>
                        </a:rPr>
                        <a:t>Giai thừa</a:t>
                      </a:r>
                      <a:endParaRPr lang="en-US" sz="1700">
                        <a:effectLst/>
                        <a:latin typeface="Google Sans Text"/>
                      </a:endParaRPr>
                    </a:p>
                  </a:txBody>
                  <a:tcPr marL="84876" marR="84876" marT="42438" marB="42438" anchor="ctr"/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</a:rPr>
                        <a:t>math.factorial(n)</a:t>
                      </a:r>
                      <a:endParaRPr lang="en-US" sz="1700">
                        <a:effectLst/>
                        <a:latin typeface="Google Sans Text"/>
                      </a:endParaRPr>
                    </a:p>
                  </a:txBody>
                  <a:tcPr marL="84876" marR="84876" marT="42438" marB="42438" anchor="ctr"/>
                </a:tc>
                <a:tc>
                  <a:txBody>
                    <a:bodyPr/>
                    <a:lstStyle/>
                    <a:p>
                      <a:r>
                        <a:rPr lang="en-US" sz="1700" dirty="0" err="1">
                          <a:effectLst/>
                        </a:rPr>
                        <a:t>Tính</a:t>
                      </a:r>
                      <a:r>
                        <a:rPr lang="en-US" sz="1700" dirty="0">
                          <a:effectLst/>
                        </a:rPr>
                        <a:t> n! (</a:t>
                      </a:r>
                      <a:r>
                        <a:rPr lang="en-US" sz="1700" dirty="0" err="1">
                          <a:effectLst/>
                        </a:rPr>
                        <a:t>ví</a:t>
                      </a:r>
                      <a:r>
                        <a:rPr lang="en-US" sz="1700" dirty="0">
                          <a:effectLst/>
                        </a:rPr>
                        <a:t> </a:t>
                      </a:r>
                      <a:r>
                        <a:rPr lang="en-US" sz="1700" dirty="0" err="1">
                          <a:effectLst/>
                        </a:rPr>
                        <a:t>dụ</a:t>
                      </a:r>
                      <a:r>
                        <a:rPr lang="en-US" sz="1700" dirty="0">
                          <a:effectLst/>
                        </a:rPr>
                        <a:t> 5! = 1 x 2 x 3 x 4 x 5).</a:t>
                      </a:r>
                      <a:endParaRPr lang="en-US" sz="1700" dirty="0">
                        <a:effectLst/>
                        <a:latin typeface="Google Sans Text"/>
                      </a:endParaRPr>
                    </a:p>
                  </a:txBody>
                  <a:tcPr marL="84876" marR="84876" marT="42438" marB="42438" anchor="ctr"/>
                </a:tc>
                <a:extLst>
                  <a:ext uri="{0D108BD9-81ED-4DB2-BD59-A6C34878D82A}">
                    <a16:rowId xmlns:a16="http://schemas.microsoft.com/office/drawing/2014/main" val="1335521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1404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7587"/>
            <a:ext cx="10131425" cy="725186"/>
          </a:xfrm>
        </p:spPr>
        <p:txBody>
          <a:bodyPr/>
          <a:lstStyle/>
          <a:p>
            <a:r>
              <a:rPr lang="en-US" b="1" dirty="0" err="1"/>
              <a:t>Ví</a:t>
            </a:r>
            <a:r>
              <a:rPr lang="en-US" b="1" dirty="0"/>
              <a:t> </a:t>
            </a:r>
            <a:r>
              <a:rPr lang="en-US" b="1" dirty="0" err="1"/>
              <a:t>dụ</a:t>
            </a:r>
            <a:r>
              <a:rPr lang="en-US" b="1" dirty="0"/>
              <a:t> </a:t>
            </a:r>
            <a:r>
              <a:rPr lang="en-US" b="1" dirty="0" err="1"/>
              <a:t>minh</a:t>
            </a:r>
            <a:r>
              <a:rPr lang="en-US" b="1" dirty="0"/>
              <a:t> </a:t>
            </a:r>
            <a:r>
              <a:rPr lang="en-US" b="1" dirty="0" err="1"/>
              <a:t>họa</a:t>
            </a:r>
            <a:endParaRPr lang="en-US" b="1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237F11C-CAFB-6A8B-B6D9-2642F91CBB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3348" y="5666499"/>
            <a:ext cx="94472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Ở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diện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tích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ta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dùng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dt:.2f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là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để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lấy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chữ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số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thập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phân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11EBAB4-4E31-ED2D-1D9E-879672772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348" y="1164557"/>
            <a:ext cx="9091448" cy="4298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324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7587"/>
            <a:ext cx="10131425" cy="725186"/>
          </a:xfrm>
        </p:spPr>
        <p:txBody>
          <a:bodyPr/>
          <a:lstStyle/>
          <a:p>
            <a:r>
              <a:rPr lang="en-US" b="1" dirty="0" err="1"/>
              <a:t>Bài</a:t>
            </a:r>
            <a:r>
              <a:rPr lang="en-US" b="1" dirty="0"/>
              <a:t> </a:t>
            </a:r>
            <a:r>
              <a:rPr lang="en-US" b="1" dirty="0" err="1"/>
              <a:t>tập</a:t>
            </a:r>
            <a:r>
              <a:rPr lang="en-US" b="1" dirty="0"/>
              <a:t> </a:t>
            </a:r>
            <a:r>
              <a:rPr lang="en-US" b="1" dirty="0" err="1"/>
              <a:t>về</a:t>
            </a:r>
            <a:r>
              <a:rPr lang="en-US" b="1" dirty="0"/>
              <a:t> math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237F11C-CAFB-6A8B-B6D9-2642F91CBB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1336120"/>
            <a:ext cx="944724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Bài 1: Nhập vào 2 cạnh a và b của một hình chữ nhật. Sử dụng math.sqrt() và math.pow() để tính độ dài đường chéo c theo công thức: c = căn bậc hai của (a bình phương + b bình phương).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Bài 2: Cho danh sách điểm số chưa quy tròn: scores = [7.2, 8.5, 4.1, 9.9]. Hãy dùng hàm map() kết hợp với math.ceil() để làm tròn lên toàn bộ điểm số trong danh sách.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0F2A572-6F01-4DD3-40AF-C1BE62286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793516"/>
            <a:ext cx="10734869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vi-VN" altLang="en-US" sz="2000" dirty="0">
                <a:latin typeface="Arial" panose="020B0604020202020204" pitchFamily="34" charset="0"/>
              </a:rPr>
              <a:t>Bài 3: Nhập một số nguyên dương n từ bàn phím. Sử dụng hàm math.factorial() để tính và in ra kết quả n giai thừa (n!).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vi-VN" altLang="en-US" sz="2000" dirty="0">
                <a:latin typeface="Arial" panose="020B0604020202020204" pitchFamily="34" charset="0"/>
              </a:rPr>
              <a:t>Bài 4: Nhập hai số nguyên dương a và b. Sử dụng hàm math.gcd() để tìm và in ra ước chung lớn nhất của hai số đó.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978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7587"/>
            <a:ext cx="10131425" cy="725186"/>
          </a:xfrm>
        </p:spPr>
        <p:txBody>
          <a:bodyPr/>
          <a:lstStyle/>
          <a:p>
            <a:r>
              <a:rPr lang="en-US" b="1" dirty="0" err="1"/>
              <a:t>Bài</a:t>
            </a:r>
            <a:r>
              <a:rPr lang="en-US" b="1" dirty="0"/>
              <a:t> </a:t>
            </a:r>
            <a:r>
              <a:rPr lang="en-US" b="1" dirty="0" err="1"/>
              <a:t>tập</a:t>
            </a:r>
            <a:r>
              <a:rPr lang="en-US" b="1" dirty="0"/>
              <a:t> </a:t>
            </a:r>
            <a:r>
              <a:rPr lang="en-US" b="1" dirty="0" err="1"/>
              <a:t>về</a:t>
            </a:r>
            <a:r>
              <a:rPr lang="en-US" b="1" dirty="0"/>
              <a:t> math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237F11C-CAFB-6A8B-B6D9-2642F91CBB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1490009"/>
            <a:ext cx="944724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Bài 5: Nhập một số thực x bất kỳ. Sử dụng hàm math.modf() để tách số đó thành hai phần: phần nguyên và phần thập phân, sau đó in kết quả ra màn hình.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Bài 6: Cho tọa độ hai điểm A(x1, y1) và B(x2, y2). Hãy sử dụng thư viện math để tính khoảng cách giữa hai điểm này (Gợi ý: dùng hàm math.dist() hoặc math.sqrt()).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0F2A572-6F01-4DD3-40AF-C1BE62286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736775"/>
            <a:ext cx="10734869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vi-VN" altLang="en-US" sz="2000" dirty="0">
                <a:latin typeface="Arial" panose="020B0604020202020204" pitchFamily="34" charset="0"/>
              </a:rPr>
              <a:t>Bài 7: Viết chương trình kiểm tra một số n có phải là số chính phương hay không bằng cách sử dụng math.isqrt() (Số chính phương là số có căn bậc hai là một số nguyên).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vi-VN" altLang="en-US" sz="2000" dirty="0">
                <a:latin typeface="Arial" panose="020B0604020202020204" pitchFamily="34" charset="0"/>
              </a:rPr>
              <a:t>Bài 8: Giải phương trình bậc hai ax^2 + bx + c = 0. Sử dụng math.sqrt() để tính căn delta và tìm các nghiệm của phương trình nếu có.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35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7587"/>
            <a:ext cx="10131425" cy="725186"/>
          </a:xfrm>
        </p:spPr>
        <p:txBody>
          <a:bodyPr/>
          <a:lstStyle/>
          <a:p>
            <a:r>
              <a:rPr lang="en-US" b="1" dirty="0" err="1"/>
              <a:t>Bài</a:t>
            </a:r>
            <a:r>
              <a:rPr lang="en-US" b="1" dirty="0"/>
              <a:t> </a:t>
            </a:r>
            <a:r>
              <a:rPr lang="en-US" b="1" dirty="0" err="1"/>
              <a:t>tập</a:t>
            </a:r>
            <a:r>
              <a:rPr lang="en-US" b="1" dirty="0"/>
              <a:t> </a:t>
            </a:r>
            <a:r>
              <a:rPr lang="en-US" b="1" dirty="0" err="1"/>
              <a:t>về</a:t>
            </a:r>
            <a:r>
              <a:rPr lang="en-US" b="1" dirty="0"/>
              <a:t> math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237F11C-CAFB-6A8B-B6D9-2642F91CBB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7880" y="1490008"/>
            <a:ext cx="944724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Bài 9: Cho danh sách số nguyên numbers = [2, 3, 4, 5, 6]. Sử dụng filter() và lambda kết hợp với math.factorial() để lọc ra những số có giai thừa lớn hơn 100.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Bài 10: Cho danh sách các tọa độ điểm: points = [(1, 2), (3, 4), (0, 0), (2, 1)]. Hãy sử dụng hàm sorted() kết hợp lambda và math.sqrt() để sắp xếp các điểm này theo khoảng cách tăng dần so với gốc tọa độ (0, 0).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3659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3840</TotalTime>
  <Words>710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(Body)</vt:lpstr>
      <vt:lpstr>Calibri Light</vt:lpstr>
      <vt:lpstr>Google Sans Text</vt:lpstr>
      <vt:lpstr>Celestial</vt:lpstr>
      <vt:lpstr>LẬP TRÌNH PYTHON</vt:lpstr>
      <vt:lpstr>Thư viện math trong Python</vt:lpstr>
      <vt:lpstr>Các hàm thông dụng trong math</vt:lpstr>
      <vt:lpstr>Ví dụ minh họa</vt:lpstr>
      <vt:lpstr>Bài tập về math</vt:lpstr>
      <vt:lpstr>Bài tập về math</vt:lpstr>
      <vt:lpstr>Bài tập về math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LẬP TRÌNH SCRATCH</dc:title>
  <dc:creator>Duc Tung</dc:creator>
  <cp:lastModifiedBy>Administrator</cp:lastModifiedBy>
  <cp:revision>159</cp:revision>
  <dcterms:created xsi:type="dcterms:W3CDTF">2023-07-04T14:52:20Z</dcterms:created>
  <dcterms:modified xsi:type="dcterms:W3CDTF">2026-03-12T03:16:32Z</dcterms:modified>
</cp:coreProperties>
</file>