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08" autoAdjust="0"/>
    <p:restoredTop sz="94660"/>
  </p:normalViewPr>
  <p:slideViewPr>
    <p:cSldViewPr snapToGrid="0">
      <p:cViewPr varScale="1">
        <p:scale>
          <a:sx n="82" d="100"/>
          <a:sy n="82" d="100"/>
        </p:scale>
        <p:origin x="96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1/7/2026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1/7/2026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t>LẬP TRÌNH PYTHON</a:t>
            </a:r>
          </a:p>
        </p:txBody>
      </p:sp>
      <p:sp>
        <p:nvSpPr>
          <p:cNvPr id="3" name="Subtitle 2"/>
          <p:cNvSpPr>
            <a:spLocks noGrp="1"/>
          </p:cNvSpPr>
          <p:nvPr>
            <p:ph type="subTitle" idx="1"/>
          </p:nvPr>
        </p:nvSpPr>
        <p:spPr/>
        <p:txBody>
          <a:bodyPr/>
          <a:lstStyle/>
          <a:p>
            <a:r>
              <a:rPr lang="en-US" b="1"/>
              <a:t>CON ĐƯỜNG TRỞ THÀNH LẬP TRÌNH VIÊN PYTHON CHUYÊN NGHIỆP</a:t>
            </a:r>
          </a:p>
        </p:txBody>
      </p:sp>
    </p:spTree>
    <p:extLst>
      <p:ext uri="{BB962C8B-B14F-4D97-AF65-F5344CB8AC3E}">
        <p14:creationId xmlns:p14="http://schemas.microsoft.com/office/powerpoint/2010/main" val="121865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7"/>
            <a:ext cx="10131425" cy="1277389"/>
          </a:xfrm>
        </p:spPr>
        <p:txBody>
          <a:bodyPr/>
          <a:lstStyle/>
          <a:p>
            <a:r>
              <a:rPr lang="en-US" b="1"/>
              <a:t>PYTHON TUPLE</a:t>
            </a:r>
          </a:p>
        </p:txBody>
      </p:sp>
      <p:sp>
        <p:nvSpPr>
          <p:cNvPr id="3" name="Content Placeholder 2"/>
          <p:cNvSpPr>
            <a:spLocks noGrp="1"/>
          </p:cNvSpPr>
          <p:nvPr>
            <p:ph idx="1"/>
          </p:nvPr>
        </p:nvSpPr>
        <p:spPr>
          <a:xfrm>
            <a:off x="685801" y="1662546"/>
            <a:ext cx="6015445" cy="5058216"/>
          </a:xfrm>
        </p:spPr>
        <p:txBody>
          <a:bodyPr anchor="t" anchorCtr="0">
            <a:normAutofit/>
          </a:bodyPr>
          <a:lstStyle/>
          <a:p>
            <a:r>
              <a:rPr lang="vi-VN">
                <a:latin typeface="Calibri (Body)"/>
              </a:rPr>
              <a:t>Tuple trong Python là kiểu dữ liệu trong Python có chức năng lưu trữ các đối tượng có tính chất cố định (ví dụ như hằng số)</a:t>
            </a:r>
          </a:p>
          <a:p>
            <a:r>
              <a:rPr lang="vi-VN">
                <a:latin typeface="Calibri (Body)"/>
              </a:rPr>
              <a:t>Để viết một Tuple, bạn đặt các phần từ nằm trong cặp ngoặc (), tất cả những gì nằm trong ngoặc là những phần tử của Tuple, </a:t>
            </a:r>
          </a:p>
          <a:p>
            <a:r>
              <a:rPr lang="vi-VN">
                <a:latin typeface="Calibri (Body)"/>
              </a:rPr>
              <a:t>được ngăn cách nhau bởi dấu phẩy. Các phần tử trong một Tuple được đánh số (index) từ 0</a:t>
            </a:r>
            <a:endParaRPr lang="en-US">
              <a:latin typeface="Calibri (Body)"/>
            </a:endParaRPr>
          </a:p>
          <a:p>
            <a:r>
              <a:rPr lang="en-US">
                <a:latin typeface="Calibri (Body)"/>
              </a:rPr>
              <a:t>Một khi tuple đã được khởi tạo thì không thể thay đổi các giá trị trong nó.</a:t>
            </a:r>
          </a:p>
          <a:p>
            <a:endParaRPr lang="en-US">
              <a:latin typeface="Calibri (Body)"/>
            </a:endParaRPr>
          </a:p>
        </p:txBody>
      </p:sp>
      <p:pic>
        <p:nvPicPr>
          <p:cNvPr id="1026" name="Picture 2" descr="https://cdn.mcivietnam.com/nhanvien/media/post/uploads/2021/07/tuple-trong-python-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9939" y="1756827"/>
            <a:ext cx="5134313" cy="3167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6085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7"/>
            <a:ext cx="10131425" cy="1277389"/>
          </a:xfrm>
        </p:spPr>
        <p:txBody>
          <a:bodyPr/>
          <a:lstStyle/>
          <a:p>
            <a:r>
              <a:rPr lang="en-US" b="1"/>
              <a:t>PYTHON TUPLE	</a:t>
            </a:r>
          </a:p>
        </p:txBody>
      </p:sp>
      <p:sp>
        <p:nvSpPr>
          <p:cNvPr id="3" name="Content Placeholder 2"/>
          <p:cNvSpPr>
            <a:spLocks noGrp="1"/>
          </p:cNvSpPr>
          <p:nvPr>
            <p:ph idx="1"/>
          </p:nvPr>
        </p:nvSpPr>
        <p:spPr>
          <a:xfrm>
            <a:off x="685801" y="1454727"/>
            <a:ext cx="8990214" cy="5058216"/>
          </a:xfrm>
        </p:spPr>
        <p:txBody>
          <a:bodyPr anchor="t" anchorCtr="0">
            <a:normAutofit/>
          </a:bodyPr>
          <a:lstStyle/>
          <a:p>
            <a:r>
              <a:rPr lang="en-US">
                <a:latin typeface="Calibri (Body)"/>
              </a:rPr>
              <a:t>Cách khởi tạo Tuple</a:t>
            </a:r>
          </a:p>
          <a:p>
            <a:r>
              <a:rPr lang="en-US">
                <a:latin typeface="Calibri (Body)"/>
              </a:rPr>
              <a:t>Sử dụng cặp dấu ngoặc () và đặt giá trị vào bên trong</a:t>
            </a:r>
          </a:p>
          <a:p>
            <a:r>
              <a:rPr lang="en-US">
                <a:latin typeface="Calibri (Body)"/>
              </a:rPr>
              <a:t>Ví dụ: </a:t>
            </a:r>
          </a:p>
          <a:p>
            <a:pPr lvl="1"/>
            <a:r>
              <a:rPr lang="en-US">
                <a:latin typeface="Calibri (Body)"/>
              </a:rPr>
              <a:t>lophoc = ("Tung", "Huy", "Linh", "Nga", "Cuong")</a:t>
            </a:r>
          </a:p>
          <a:p>
            <a:pPr lvl="1"/>
            <a:r>
              <a:rPr lang="en-US">
                <a:latin typeface="Calibri (Body)"/>
              </a:rPr>
              <a:t>print (lophoc)</a:t>
            </a:r>
          </a:p>
          <a:p>
            <a:r>
              <a:rPr lang="en-US">
                <a:latin typeface="Calibri (Body)"/>
              </a:rPr>
              <a:t>Thêm phần tử mới vào 1 tuple đã có:</a:t>
            </a:r>
          </a:p>
          <a:p>
            <a:r>
              <a:rPr lang="en-US">
                <a:latin typeface="Calibri (Body)"/>
              </a:rPr>
              <a:t>Ví dụ: </a:t>
            </a:r>
          </a:p>
          <a:p>
            <a:pPr lvl="1"/>
            <a:endParaRPr lang="en-US">
              <a:latin typeface="Calibri (Body)"/>
            </a:endParaRPr>
          </a:p>
        </p:txBody>
      </p:sp>
      <p:pic>
        <p:nvPicPr>
          <p:cNvPr id="4" name="Picture 3"/>
          <p:cNvPicPr>
            <a:picLocks noChangeAspect="1"/>
          </p:cNvPicPr>
          <p:nvPr/>
        </p:nvPicPr>
        <p:blipFill>
          <a:blip r:embed="rId2"/>
          <a:stretch>
            <a:fillRect/>
          </a:stretch>
        </p:blipFill>
        <p:spPr>
          <a:xfrm>
            <a:off x="2557599" y="4331425"/>
            <a:ext cx="5377002" cy="1259478"/>
          </a:xfrm>
          <a:prstGeom prst="rect">
            <a:avLst/>
          </a:prstGeom>
        </p:spPr>
      </p:pic>
    </p:spTree>
    <p:extLst>
      <p:ext uri="{BB962C8B-B14F-4D97-AF65-F5344CB8AC3E}">
        <p14:creationId xmlns:p14="http://schemas.microsoft.com/office/powerpoint/2010/main" val="2452777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7"/>
            <a:ext cx="10131425" cy="1277389"/>
          </a:xfrm>
        </p:spPr>
        <p:txBody>
          <a:bodyPr/>
          <a:lstStyle/>
          <a:p>
            <a:r>
              <a:rPr lang="en-US" b="1"/>
              <a:t>Truy cập các phần tử của Tuple	</a:t>
            </a:r>
          </a:p>
        </p:txBody>
      </p:sp>
      <p:sp>
        <p:nvSpPr>
          <p:cNvPr id="3" name="Content Placeholder 2"/>
          <p:cNvSpPr>
            <a:spLocks noGrp="1"/>
          </p:cNvSpPr>
          <p:nvPr>
            <p:ph idx="1"/>
          </p:nvPr>
        </p:nvSpPr>
        <p:spPr>
          <a:xfrm>
            <a:off x="685801" y="1454727"/>
            <a:ext cx="8990214" cy="5058216"/>
          </a:xfrm>
        </p:spPr>
        <p:txBody>
          <a:bodyPr anchor="t" anchorCtr="0">
            <a:normAutofit/>
          </a:bodyPr>
          <a:lstStyle/>
          <a:p>
            <a:r>
              <a:rPr lang="en-US">
                <a:latin typeface="Calibri (Body)"/>
              </a:rPr>
              <a:t>Truy cập từng phần tử trong tuple bằng chỉ số index. Ví dụ: fruits[0], fruits[2]</a:t>
            </a:r>
          </a:p>
          <a:p>
            <a:r>
              <a:rPr lang="en-US">
                <a:latin typeface="Calibri (Body)"/>
              </a:rPr>
              <a:t>Truy cập các phần tử bằng vòng lặp for:</a:t>
            </a:r>
          </a:p>
          <a:p>
            <a:r>
              <a:rPr lang="en-US">
                <a:latin typeface="Calibri (Body)"/>
              </a:rPr>
              <a:t>Sau đây sẽ là cách sử dụng hàm for để truy cập phần tử cua Tuple:</a:t>
            </a:r>
          </a:p>
          <a:p>
            <a:pPr lvl="1"/>
            <a:endParaRPr lang="en-US">
              <a:latin typeface="Calibri (Body)"/>
            </a:endParaRPr>
          </a:p>
        </p:txBody>
      </p:sp>
      <p:pic>
        <p:nvPicPr>
          <p:cNvPr id="5" name="Picture 4"/>
          <p:cNvPicPr>
            <a:picLocks noChangeAspect="1"/>
          </p:cNvPicPr>
          <p:nvPr/>
        </p:nvPicPr>
        <p:blipFill>
          <a:blip r:embed="rId2"/>
          <a:stretch>
            <a:fillRect/>
          </a:stretch>
        </p:blipFill>
        <p:spPr>
          <a:xfrm>
            <a:off x="2218633" y="2821785"/>
            <a:ext cx="5924550" cy="2324100"/>
          </a:xfrm>
          <a:prstGeom prst="rect">
            <a:avLst/>
          </a:prstGeom>
        </p:spPr>
      </p:pic>
    </p:spTree>
    <p:extLst>
      <p:ext uri="{BB962C8B-B14F-4D97-AF65-F5344CB8AC3E}">
        <p14:creationId xmlns:p14="http://schemas.microsoft.com/office/powerpoint/2010/main" val="2888131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7"/>
            <a:ext cx="10131425" cy="1277389"/>
          </a:xfrm>
        </p:spPr>
        <p:txBody>
          <a:bodyPr/>
          <a:lstStyle/>
          <a:p>
            <a:r>
              <a:rPr lang="en-US" b="1"/>
              <a:t>Truy cập các phần tử của Tuple	</a:t>
            </a:r>
          </a:p>
        </p:txBody>
      </p:sp>
      <p:sp>
        <p:nvSpPr>
          <p:cNvPr id="3" name="Content Placeholder 2"/>
          <p:cNvSpPr>
            <a:spLocks noGrp="1"/>
          </p:cNvSpPr>
          <p:nvPr>
            <p:ph idx="1"/>
          </p:nvPr>
        </p:nvSpPr>
        <p:spPr>
          <a:xfrm>
            <a:off x="685801" y="1454727"/>
            <a:ext cx="6106885" cy="5058216"/>
          </a:xfrm>
        </p:spPr>
        <p:txBody>
          <a:bodyPr anchor="t" anchorCtr="0">
            <a:normAutofit/>
          </a:bodyPr>
          <a:lstStyle/>
          <a:p>
            <a:r>
              <a:rPr lang="en-US">
                <a:latin typeface="Calibri (Body)"/>
              </a:rPr>
              <a:t>Truy cập thông qua chỉ số (index):</a:t>
            </a:r>
          </a:p>
          <a:p>
            <a:r>
              <a:rPr lang="en-US">
                <a:latin typeface="Calibri (Body)"/>
              </a:rPr>
              <a:t>Ngoài ra, còn có thể truy cập phần tử của Tuple thông qua hàm index. Các phần tử của Tuple sẽ sắp xếp theo thứ tự từ trái qua phải, bắt đầu từ số 0</a:t>
            </a:r>
          </a:p>
        </p:txBody>
      </p:sp>
      <p:pic>
        <p:nvPicPr>
          <p:cNvPr id="6" name="Picture 5"/>
          <p:cNvPicPr>
            <a:picLocks noChangeAspect="1"/>
          </p:cNvPicPr>
          <p:nvPr/>
        </p:nvPicPr>
        <p:blipFill>
          <a:blip r:embed="rId2"/>
          <a:stretch>
            <a:fillRect/>
          </a:stretch>
        </p:blipFill>
        <p:spPr>
          <a:xfrm>
            <a:off x="3289300" y="3069635"/>
            <a:ext cx="4924425" cy="1476375"/>
          </a:xfrm>
          <a:prstGeom prst="rect">
            <a:avLst/>
          </a:prstGeom>
        </p:spPr>
      </p:pic>
    </p:spTree>
    <p:extLst>
      <p:ext uri="{BB962C8B-B14F-4D97-AF65-F5344CB8AC3E}">
        <p14:creationId xmlns:p14="http://schemas.microsoft.com/office/powerpoint/2010/main" val="2891307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7"/>
            <a:ext cx="10131425" cy="1277389"/>
          </a:xfrm>
        </p:spPr>
        <p:txBody>
          <a:bodyPr/>
          <a:lstStyle/>
          <a:p>
            <a:r>
              <a:rPr lang="en-US" b="1"/>
              <a:t>Truy cập các phần tử của Tuple	</a:t>
            </a:r>
          </a:p>
        </p:txBody>
      </p:sp>
      <p:sp>
        <p:nvSpPr>
          <p:cNvPr id="3" name="Content Placeholder 2"/>
          <p:cNvSpPr>
            <a:spLocks noGrp="1"/>
          </p:cNvSpPr>
          <p:nvPr>
            <p:ph idx="1"/>
          </p:nvPr>
        </p:nvSpPr>
        <p:spPr>
          <a:xfrm>
            <a:off x="685801" y="1454727"/>
            <a:ext cx="6106885" cy="5058216"/>
          </a:xfrm>
        </p:spPr>
        <p:txBody>
          <a:bodyPr anchor="t" anchorCtr="0">
            <a:normAutofit/>
          </a:bodyPr>
          <a:lstStyle/>
          <a:p>
            <a:r>
              <a:rPr lang="vi-VN">
                <a:latin typeface="Calibri (Body)"/>
              </a:rPr>
              <a:t>Cập nhật Tuples</a:t>
            </a:r>
          </a:p>
          <a:p>
            <a:r>
              <a:rPr lang="vi-VN">
                <a:latin typeface="Calibri (Body)"/>
              </a:rPr>
              <a:t>Do Tuple trong python là bất biến (immutable), chính vì thế chỉ có thể truy cập các phần tử Tuple bằng các phương thức hoặc toán tử, hoặc tạo ra một Tuple hoàn toàn mới dựa trên Tuple ban đầu.</a:t>
            </a:r>
            <a:endParaRPr lang="en-US">
              <a:latin typeface="Calibri (Body)"/>
            </a:endParaRPr>
          </a:p>
        </p:txBody>
      </p:sp>
      <p:pic>
        <p:nvPicPr>
          <p:cNvPr id="5" name="Picture 4"/>
          <p:cNvPicPr>
            <a:picLocks noChangeAspect="1"/>
          </p:cNvPicPr>
          <p:nvPr/>
        </p:nvPicPr>
        <p:blipFill>
          <a:blip r:embed="rId2"/>
          <a:stretch>
            <a:fillRect/>
          </a:stretch>
        </p:blipFill>
        <p:spPr>
          <a:xfrm>
            <a:off x="1792706" y="3443132"/>
            <a:ext cx="6672284" cy="2101292"/>
          </a:xfrm>
          <a:prstGeom prst="rect">
            <a:avLst/>
          </a:prstGeom>
        </p:spPr>
      </p:pic>
    </p:spTree>
    <p:extLst>
      <p:ext uri="{BB962C8B-B14F-4D97-AF65-F5344CB8AC3E}">
        <p14:creationId xmlns:p14="http://schemas.microsoft.com/office/powerpoint/2010/main" val="1973660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7"/>
            <a:ext cx="10131425" cy="1277389"/>
          </a:xfrm>
        </p:spPr>
        <p:txBody>
          <a:bodyPr/>
          <a:lstStyle/>
          <a:p>
            <a:r>
              <a:rPr lang="en-US" b="1"/>
              <a:t>Truy cập các phần tử của Tuple	</a:t>
            </a:r>
          </a:p>
        </p:txBody>
      </p:sp>
      <p:sp>
        <p:nvSpPr>
          <p:cNvPr id="3" name="Content Placeholder 2"/>
          <p:cNvSpPr>
            <a:spLocks noGrp="1"/>
          </p:cNvSpPr>
          <p:nvPr>
            <p:ph idx="1"/>
          </p:nvPr>
        </p:nvSpPr>
        <p:spPr>
          <a:xfrm>
            <a:off x="685801" y="1454727"/>
            <a:ext cx="8379822" cy="5058216"/>
          </a:xfrm>
        </p:spPr>
        <p:txBody>
          <a:bodyPr anchor="t" anchorCtr="0">
            <a:normAutofit/>
          </a:bodyPr>
          <a:lstStyle/>
          <a:p>
            <a:r>
              <a:rPr lang="vi-VN">
                <a:latin typeface="Calibri (Body)"/>
              </a:rPr>
              <a:t>Các hàm liên quan đến Tuples:</a:t>
            </a:r>
          </a:p>
          <a:p>
            <a:r>
              <a:rPr lang="vi-VN">
                <a:latin typeface="Calibri (Body)"/>
              </a:rPr>
              <a:t>len(</a:t>
            </a:r>
            <a:r>
              <a:rPr lang="en-US">
                <a:latin typeface="Calibri (Body)"/>
              </a:rPr>
              <a:t>tuple</a:t>
            </a:r>
            <a:r>
              <a:rPr lang="vi-VN">
                <a:latin typeface="Calibri (Body)"/>
              </a:rPr>
              <a:t>)	</a:t>
            </a:r>
            <a:r>
              <a:rPr lang="en-US">
                <a:latin typeface="Calibri (Body)"/>
              </a:rPr>
              <a:t>	</a:t>
            </a:r>
            <a:r>
              <a:rPr lang="vi-VN">
                <a:latin typeface="Calibri (Body)"/>
              </a:rPr>
              <a:t>Đếm số phần tử trong tuple</a:t>
            </a:r>
          </a:p>
          <a:p>
            <a:r>
              <a:rPr lang="vi-VN">
                <a:latin typeface="Calibri (Body)"/>
              </a:rPr>
              <a:t>max(</a:t>
            </a:r>
            <a:r>
              <a:rPr lang="en-US">
                <a:latin typeface="Calibri (Body)"/>
              </a:rPr>
              <a:t>tuple</a:t>
            </a:r>
            <a:r>
              <a:rPr lang="vi-VN">
                <a:latin typeface="Calibri (Body)"/>
              </a:rPr>
              <a:t>)	</a:t>
            </a:r>
            <a:r>
              <a:rPr lang="en-US">
                <a:latin typeface="Calibri (Body)"/>
              </a:rPr>
              <a:t>	</a:t>
            </a:r>
            <a:r>
              <a:rPr lang="vi-VN">
                <a:latin typeface="Calibri (Body)"/>
              </a:rPr>
              <a:t>Tìm phần tử trong Tuple có giá trị lớn nhất</a:t>
            </a:r>
          </a:p>
          <a:p>
            <a:r>
              <a:rPr lang="vi-VN">
                <a:latin typeface="Calibri (Body)"/>
              </a:rPr>
              <a:t>min(</a:t>
            </a:r>
            <a:r>
              <a:rPr lang="en-US">
                <a:latin typeface="Calibri (Body)"/>
              </a:rPr>
              <a:t>tuple</a:t>
            </a:r>
            <a:r>
              <a:rPr lang="vi-VN">
                <a:latin typeface="Calibri (Body)"/>
              </a:rPr>
              <a:t>)	</a:t>
            </a:r>
            <a:r>
              <a:rPr lang="en-US">
                <a:latin typeface="Calibri (Body)"/>
              </a:rPr>
              <a:t>	</a:t>
            </a:r>
            <a:r>
              <a:rPr lang="vi-VN">
                <a:latin typeface="Calibri (Body)"/>
              </a:rPr>
              <a:t>Tìm phần tử trong Tuple với giá trị nhỏ nhất</a:t>
            </a:r>
            <a:endParaRPr lang="en-US">
              <a:latin typeface="Calibri (Body)"/>
            </a:endParaRPr>
          </a:p>
          <a:p>
            <a:endParaRPr lang="en-US">
              <a:latin typeface="Calibri (Body)"/>
            </a:endParaRPr>
          </a:p>
        </p:txBody>
      </p:sp>
      <p:pic>
        <p:nvPicPr>
          <p:cNvPr id="5" name="Picture 4"/>
          <p:cNvPicPr>
            <a:picLocks noChangeAspect="1"/>
          </p:cNvPicPr>
          <p:nvPr/>
        </p:nvPicPr>
        <p:blipFill>
          <a:blip r:embed="rId2"/>
          <a:stretch>
            <a:fillRect/>
          </a:stretch>
        </p:blipFill>
        <p:spPr>
          <a:xfrm>
            <a:off x="1069975" y="3459225"/>
            <a:ext cx="9363075" cy="2619375"/>
          </a:xfrm>
          <a:prstGeom prst="rect">
            <a:avLst/>
          </a:prstGeom>
        </p:spPr>
      </p:pic>
      <p:pic>
        <p:nvPicPr>
          <p:cNvPr id="4" name="Picture 3"/>
          <p:cNvPicPr>
            <a:picLocks noChangeAspect="1"/>
          </p:cNvPicPr>
          <p:nvPr/>
        </p:nvPicPr>
        <p:blipFill>
          <a:blip r:embed="rId3"/>
          <a:stretch>
            <a:fillRect/>
          </a:stretch>
        </p:blipFill>
        <p:spPr>
          <a:xfrm>
            <a:off x="7863387" y="5138330"/>
            <a:ext cx="3771900" cy="1466850"/>
          </a:xfrm>
          <a:prstGeom prst="rect">
            <a:avLst/>
          </a:prstGeom>
        </p:spPr>
      </p:pic>
    </p:spTree>
    <p:extLst>
      <p:ext uri="{BB962C8B-B14F-4D97-AF65-F5344CB8AC3E}">
        <p14:creationId xmlns:p14="http://schemas.microsoft.com/office/powerpoint/2010/main" val="1019487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7"/>
            <a:ext cx="10131425" cy="1277389"/>
          </a:xfrm>
        </p:spPr>
        <p:txBody>
          <a:bodyPr/>
          <a:lstStyle/>
          <a:p>
            <a:r>
              <a:rPr lang="en-US" b="1" dirty="0"/>
              <a:t>BÀI TẬP TUPLE</a:t>
            </a:r>
          </a:p>
        </p:txBody>
      </p:sp>
      <p:sp>
        <p:nvSpPr>
          <p:cNvPr id="3" name="Content Placeholder 2"/>
          <p:cNvSpPr>
            <a:spLocks noGrp="1"/>
          </p:cNvSpPr>
          <p:nvPr>
            <p:ph idx="1"/>
          </p:nvPr>
        </p:nvSpPr>
        <p:spPr>
          <a:xfrm>
            <a:off x="685801" y="1454727"/>
            <a:ext cx="10326188" cy="5058216"/>
          </a:xfrm>
        </p:spPr>
        <p:txBody>
          <a:bodyPr anchor="t" anchorCtr="0">
            <a:normAutofit/>
          </a:bodyPr>
          <a:lstStyle/>
          <a:p>
            <a:pPr marL="0" indent="0">
              <a:buNone/>
            </a:pPr>
            <a:r>
              <a:rPr lang="en-US" dirty="0">
                <a:latin typeface="Calibri (Body)"/>
              </a:rPr>
              <a:t>10. Check Whether an Element Exists Within a Tuple</a:t>
            </a:r>
          </a:p>
          <a:p>
            <a:pPr marL="0" indent="0">
              <a:buNone/>
            </a:pPr>
            <a:r>
              <a:rPr lang="en-US" dirty="0">
                <a:latin typeface="Calibri (Body)"/>
              </a:rPr>
              <a:t>Write a Python program to check whether an element exists within a tuple.</a:t>
            </a:r>
          </a:p>
          <a:p>
            <a:pPr marL="0" indent="0">
              <a:buNone/>
            </a:pPr>
            <a:endParaRPr lang="en-US" dirty="0">
              <a:latin typeface="Calibri (Body)"/>
            </a:endParaRPr>
          </a:p>
          <a:p>
            <a:pPr marL="0" indent="0">
              <a:buNone/>
            </a:pPr>
            <a:r>
              <a:rPr lang="en-US" dirty="0">
                <a:latin typeface="Calibri (Body)"/>
              </a:rPr>
              <a:t>11. Convert a List to a Tuple</a:t>
            </a:r>
          </a:p>
          <a:p>
            <a:pPr marL="0" indent="0">
              <a:buNone/>
            </a:pPr>
            <a:r>
              <a:rPr lang="en-US" dirty="0">
                <a:latin typeface="Calibri (Body)"/>
              </a:rPr>
              <a:t>Write a Python program to convert a list to a tuple.</a:t>
            </a:r>
          </a:p>
        </p:txBody>
      </p:sp>
    </p:spTree>
    <p:extLst>
      <p:ext uri="{BB962C8B-B14F-4D97-AF65-F5344CB8AC3E}">
        <p14:creationId xmlns:p14="http://schemas.microsoft.com/office/powerpoint/2010/main" val="242173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7"/>
            <a:ext cx="10131425" cy="1277389"/>
          </a:xfrm>
        </p:spPr>
        <p:txBody>
          <a:bodyPr/>
          <a:lstStyle/>
          <a:p>
            <a:r>
              <a:rPr lang="en-US" b="1"/>
              <a:t>BÀI TẬP TUPLE</a:t>
            </a:r>
          </a:p>
        </p:txBody>
      </p:sp>
      <p:sp>
        <p:nvSpPr>
          <p:cNvPr id="3" name="Content Placeholder 2"/>
          <p:cNvSpPr>
            <a:spLocks noGrp="1"/>
          </p:cNvSpPr>
          <p:nvPr>
            <p:ph idx="1"/>
          </p:nvPr>
        </p:nvSpPr>
        <p:spPr>
          <a:xfrm>
            <a:off x="685801" y="1454727"/>
            <a:ext cx="10326188" cy="5058216"/>
          </a:xfrm>
        </p:spPr>
        <p:txBody>
          <a:bodyPr anchor="t" anchorCtr="0">
            <a:normAutofit/>
          </a:bodyPr>
          <a:lstStyle/>
          <a:p>
            <a:pPr marL="0" indent="0">
              <a:buNone/>
            </a:pPr>
            <a:r>
              <a:rPr lang="en-US" dirty="0">
                <a:latin typeface="Calibri (Body)"/>
              </a:rPr>
              <a:t>26. Calculate the Product of Numbers in a Tuple</a:t>
            </a:r>
          </a:p>
          <a:p>
            <a:pPr marL="0" indent="0">
              <a:buNone/>
            </a:pPr>
            <a:r>
              <a:rPr lang="en-US" dirty="0">
                <a:latin typeface="Calibri (Body)"/>
              </a:rPr>
              <a:t>Write a Python program to calculate the product, multiplying all the numbers in a given tuple.</a:t>
            </a:r>
          </a:p>
          <a:p>
            <a:pPr marL="0" indent="0">
              <a:buNone/>
            </a:pPr>
            <a:endParaRPr lang="en-US" dirty="0">
              <a:latin typeface="Calibri (Body)"/>
            </a:endParaRPr>
          </a:p>
          <a:p>
            <a:pPr marL="0" indent="0">
              <a:buNone/>
            </a:pPr>
            <a:r>
              <a:rPr lang="en-US" dirty="0">
                <a:latin typeface="Calibri (Body)"/>
              </a:rPr>
              <a:t>Original Tuple:</a:t>
            </a:r>
          </a:p>
          <a:p>
            <a:pPr marL="0" indent="0">
              <a:buNone/>
            </a:pPr>
            <a:r>
              <a:rPr lang="en-US" dirty="0">
                <a:latin typeface="Calibri (Body)"/>
              </a:rPr>
              <a:t>(4, 3, 2, 2, -1, 18)</a:t>
            </a:r>
          </a:p>
          <a:p>
            <a:pPr marL="0" indent="0">
              <a:buNone/>
            </a:pPr>
            <a:r>
              <a:rPr lang="en-US" dirty="0">
                <a:latin typeface="Calibri (Body)"/>
              </a:rPr>
              <a:t>Product - multiplying all the numbers of the said tuple: -864</a:t>
            </a:r>
          </a:p>
          <a:p>
            <a:pPr marL="0" indent="0">
              <a:buNone/>
            </a:pPr>
            <a:r>
              <a:rPr lang="en-US" dirty="0">
                <a:latin typeface="Calibri (Body)"/>
              </a:rPr>
              <a:t>Original Tuple:</a:t>
            </a:r>
          </a:p>
          <a:p>
            <a:pPr marL="0" indent="0">
              <a:buNone/>
            </a:pPr>
            <a:r>
              <a:rPr lang="en-US" dirty="0">
                <a:latin typeface="Calibri (Body)"/>
              </a:rPr>
              <a:t>(2, 4, 8, 8, 3, 2, 9)</a:t>
            </a:r>
          </a:p>
          <a:p>
            <a:pPr marL="0" indent="0">
              <a:buNone/>
            </a:pPr>
            <a:r>
              <a:rPr lang="en-US" dirty="0">
                <a:latin typeface="Calibri (Body)"/>
              </a:rPr>
              <a:t>Product - multiplying all the numbers of the said tuple: 27648</a:t>
            </a:r>
          </a:p>
        </p:txBody>
      </p:sp>
    </p:spTree>
    <p:extLst>
      <p:ext uri="{BB962C8B-B14F-4D97-AF65-F5344CB8AC3E}">
        <p14:creationId xmlns:p14="http://schemas.microsoft.com/office/powerpoint/2010/main" val="3160871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7"/>
            <a:ext cx="10131425" cy="1277389"/>
          </a:xfrm>
        </p:spPr>
        <p:txBody>
          <a:bodyPr/>
          <a:lstStyle/>
          <a:p>
            <a:r>
              <a:rPr lang="en-US" b="1"/>
              <a:t>BÀI TẬP TUPLE</a:t>
            </a:r>
          </a:p>
        </p:txBody>
      </p:sp>
      <p:sp>
        <p:nvSpPr>
          <p:cNvPr id="3" name="Content Placeholder 2"/>
          <p:cNvSpPr>
            <a:spLocks noGrp="1"/>
          </p:cNvSpPr>
          <p:nvPr>
            <p:ph idx="1"/>
          </p:nvPr>
        </p:nvSpPr>
        <p:spPr>
          <a:xfrm>
            <a:off x="685801" y="1454727"/>
            <a:ext cx="10326188" cy="5058216"/>
          </a:xfrm>
        </p:spPr>
        <p:txBody>
          <a:bodyPr anchor="t" anchorCtr="0">
            <a:normAutofit/>
          </a:bodyPr>
          <a:lstStyle/>
          <a:p>
            <a:pPr marL="0" indent="0">
              <a:buNone/>
            </a:pPr>
            <a:r>
              <a:rPr lang="en-US" dirty="0">
                <a:latin typeface="Calibri (Body)"/>
              </a:rPr>
              <a:t>29. Convert a Tuple of Positive Integers into an Integer</a:t>
            </a:r>
          </a:p>
          <a:p>
            <a:pPr marL="0" indent="0">
              <a:buNone/>
            </a:pPr>
            <a:r>
              <a:rPr lang="en-US" dirty="0">
                <a:latin typeface="Calibri (Body)"/>
              </a:rPr>
              <a:t>Write a Python program to convert a given tuple of positive integers into an integer.</a:t>
            </a:r>
          </a:p>
          <a:p>
            <a:pPr marL="0" indent="0">
              <a:buNone/>
            </a:pPr>
            <a:r>
              <a:rPr lang="en-US" dirty="0">
                <a:latin typeface="Calibri (Body)"/>
              </a:rPr>
              <a:t>Original tuple:</a:t>
            </a:r>
          </a:p>
          <a:p>
            <a:pPr marL="0" indent="0">
              <a:buNone/>
            </a:pPr>
            <a:r>
              <a:rPr lang="en-US" dirty="0">
                <a:latin typeface="Calibri (Body)"/>
              </a:rPr>
              <a:t>(1, 2, 3)</a:t>
            </a:r>
          </a:p>
          <a:p>
            <a:pPr marL="0" indent="0">
              <a:buNone/>
            </a:pPr>
            <a:r>
              <a:rPr lang="en-US" dirty="0">
                <a:latin typeface="Calibri (Body)"/>
              </a:rPr>
              <a:t>Convert the said tuple of positive integers into an integer:123</a:t>
            </a:r>
          </a:p>
          <a:p>
            <a:pPr marL="0" indent="0">
              <a:buNone/>
            </a:pPr>
            <a:r>
              <a:rPr lang="en-US" dirty="0">
                <a:latin typeface="Calibri (Body)"/>
              </a:rPr>
              <a:t>Original tuple: </a:t>
            </a:r>
          </a:p>
          <a:p>
            <a:pPr marL="0" indent="0">
              <a:buNone/>
            </a:pPr>
            <a:r>
              <a:rPr lang="en-US" dirty="0">
                <a:latin typeface="Calibri (Body)"/>
              </a:rPr>
              <a:t>(10, 20, 40, 5, 70)</a:t>
            </a:r>
          </a:p>
          <a:p>
            <a:pPr marL="0" indent="0">
              <a:buNone/>
            </a:pPr>
            <a:r>
              <a:rPr lang="en-US" dirty="0">
                <a:latin typeface="Calibri (Body)"/>
              </a:rPr>
              <a:t>Convert the said tuple of positive integers into an integer: 102040570</a:t>
            </a:r>
          </a:p>
          <a:p>
            <a:pPr marL="0" indent="0">
              <a:buNone/>
            </a:pPr>
            <a:endParaRPr lang="en-US" dirty="0">
              <a:latin typeface="Calibri (Body)"/>
            </a:endParaRPr>
          </a:p>
          <a:p>
            <a:pPr marL="0" indent="0">
              <a:buNone/>
            </a:pPr>
            <a:r>
              <a:rPr lang="en-US" dirty="0">
                <a:latin typeface="Calibri (Body)"/>
              </a:rPr>
              <a:t>HƯỚNG DẪN: result = int(''.join(map(str, </a:t>
            </a:r>
            <a:r>
              <a:rPr lang="en-US" dirty="0" err="1">
                <a:latin typeface="Calibri (Body)"/>
              </a:rPr>
              <a:t>nums</a:t>
            </a:r>
            <a:r>
              <a:rPr lang="en-US" dirty="0">
                <a:latin typeface="Calibri (Body)"/>
              </a:rPr>
              <a:t>)))</a:t>
            </a:r>
          </a:p>
          <a:p>
            <a:pPr marL="0" indent="0">
              <a:buNone/>
            </a:pPr>
            <a:r>
              <a:rPr lang="en-US" dirty="0">
                <a:latin typeface="Calibri (Body)"/>
              </a:rPr>
              <a:t>	</a:t>
            </a:r>
          </a:p>
        </p:txBody>
      </p:sp>
    </p:spTree>
    <p:extLst>
      <p:ext uri="{BB962C8B-B14F-4D97-AF65-F5344CB8AC3E}">
        <p14:creationId xmlns:p14="http://schemas.microsoft.com/office/powerpoint/2010/main" val="3682998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85157"/>
            <a:ext cx="10131425" cy="1277389"/>
          </a:xfrm>
        </p:spPr>
        <p:txBody>
          <a:bodyPr/>
          <a:lstStyle/>
          <a:p>
            <a:r>
              <a:rPr lang="en-US" b="1" dirty="0"/>
              <a:t>BÀI TẬP TUPLE </a:t>
            </a:r>
            <a:r>
              <a:rPr lang="en-US" b="1" dirty="0" err="1"/>
              <a:t>Bổ</a:t>
            </a:r>
            <a:r>
              <a:rPr lang="en-US" b="1" dirty="0"/>
              <a:t> sung</a:t>
            </a:r>
          </a:p>
        </p:txBody>
      </p:sp>
      <p:sp>
        <p:nvSpPr>
          <p:cNvPr id="3" name="Content Placeholder 2"/>
          <p:cNvSpPr>
            <a:spLocks noGrp="1"/>
          </p:cNvSpPr>
          <p:nvPr>
            <p:ph idx="1"/>
          </p:nvPr>
        </p:nvSpPr>
        <p:spPr>
          <a:xfrm>
            <a:off x="685801" y="1427583"/>
            <a:ext cx="10576248" cy="5187996"/>
          </a:xfrm>
        </p:spPr>
        <p:txBody>
          <a:bodyPr anchor="t" anchorCtr="0">
            <a:normAutofit/>
          </a:bodyPr>
          <a:lstStyle/>
          <a:p>
            <a:pPr marL="0" indent="0">
              <a:buNone/>
            </a:pPr>
            <a:r>
              <a:rPr lang="en-US" sz="2000" dirty="0" err="1">
                <a:latin typeface="Calibri (Body)"/>
              </a:rPr>
              <a:t>Bài</a:t>
            </a:r>
            <a:r>
              <a:rPr lang="en-US" sz="2000" dirty="0">
                <a:latin typeface="Calibri (Body)"/>
              </a:rPr>
              <a:t> 1: </a:t>
            </a:r>
            <a:r>
              <a:rPr lang="vi-VN" sz="2000" b="0" i="0" dirty="0">
                <a:solidFill>
                  <a:srgbClr val="E3E3E3"/>
                </a:solidFill>
                <a:effectLst/>
                <a:latin typeface="Google Sans Flex"/>
              </a:rPr>
              <a:t>Sắp xếp danh sách Tuple: </a:t>
            </a:r>
            <a:endParaRPr lang="en-US" sz="2000" dirty="0">
              <a:solidFill>
                <a:srgbClr val="E3E3E3"/>
              </a:solidFill>
              <a:latin typeface="Google Sans Flex"/>
            </a:endParaRPr>
          </a:p>
          <a:p>
            <a:pPr marL="0" indent="0">
              <a:buNone/>
            </a:pPr>
            <a:r>
              <a:rPr lang="en-US" sz="2000" b="0" i="0" dirty="0">
                <a:solidFill>
                  <a:srgbClr val="E3E3E3"/>
                </a:solidFill>
                <a:effectLst/>
                <a:latin typeface="Google Sans Flex"/>
              </a:rPr>
              <a:t>C</a:t>
            </a:r>
            <a:r>
              <a:rPr lang="vi-VN" sz="1800" b="0" i="0" dirty="0">
                <a:solidFill>
                  <a:srgbClr val="E3E3E3"/>
                </a:solidFill>
                <a:effectLst/>
                <a:latin typeface="Google Sans Flex"/>
              </a:rPr>
              <a:t>ho danh sách scores = [("An", 85), ("Bình", </a:t>
            </a:r>
            <a:r>
              <a:rPr lang="en-US" sz="1800" b="0" i="0" dirty="0">
                <a:solidFill>
                  <a:srgbClr val="E3E3E3"/>
                </a:solidFill>
                <a:effectLst/>
                <a:latin typeface="Google Sans Flex"/>
              </a:rPr>
              <a:t>	</a:t>
            </a:r>
            <a:r>
              <a:rPr lang="vi-VN" sz="1800" b="0" i="0" dirty="0">
                <a:solidFill>
                  <a:srgbClr val="E3E3E3"/>
                </a:solidFill>
                <a:effectLst/>
                <a:latin typeface="Google Sans Flex"/>
              </a:rPr>
              <a:t>92), ("Chi", 78)]. Hãy sắp xếp danh sách này theo điểm số </a:t>
            </a:r>
            <a:r>
              <a:rPr lang="vi-VN" sz="1800" b="1" i="0" dirty="0">
                <a:solidFill>
                  <a:srgbClr val="E3E3E3"/>
                </a:solidFill>
                <a:effectLst/>
                <a:latin typeface="Google Sans Flex"/>
              </a:rPr>
              <a:t>tăng dần</a:t>
            </a:r>
            <a:endParaRPr lang="en-US" sz="1800" b="1" dirty="0">
              <a:latin typeface="Calibri (Body)"/>
            </a:endParaRPr>
          </a:p>
        </p:txBody>
      </p:sp>
    </p:spTree>
    <p:extLst>
      <p:ext uri="{BB962C8B-B14F-4D97-AF65-F5344CB8AC3E}">
        <p14:creationId xmlns:p14="http://schemas.microsoft.com/office/powerpoint/2010/main" val="31525698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3296</TotalTime>
  <Words>676</Words>
  <Application>Microsoft Office PowerPoint</Application>
  <PresentationFormat>Widescreen</PresentationFormat>
  <Paragraphs>61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(Body)</vt:lpstr>
      <vt:lpstr>Calibri Light</vt:lpstr>
      <vt:lpstr>Google Sans Flex</vt:lpstr>
      <vt:lpstr>Celestial</vt:lpstr>
      <vt:lpstr>LẬP TRÌNH PYTHON</vt:lpstr>
      <vt:lpstr>PYTHON TUPLE</vt:lpstr>
      <vt:lpstr>PYTHON TUPLE </vt:lpstr>
      <vt:lpstr>Truy cập các phần tử của Tuple </vt:lpstr>
      <vt:lpstr>Truy cập các phần tử của Tuple </vt:lpstr>
      <vt:lpstr>Truy cập các phần tử của Tuple </vt:lpstr>
      <vt:lpstr>Truy cập các phần tử của Tuple </vt:lpstr>
      <vt:lpstr>BÀI TẬP TUPLE</vt:lpstr>
      <vt:lpstr>BÀI TẬP TUPLE</vt:lpstr>
      <vt:lpstr>BÀI TẬP TUPLE</vt:lpstr>
      <vt:lpstr>BÀI TẬP TUPLE Bổ sung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SCRATCH</dc:title>
  <dc:creator>Duc Tung</dc:creator>
  <cp:lastModifiedBy>Administrator</cp:lastModifiedBy>
  <cp:revision>118</cp:revision>
  <dcterms:created xsi:type="dcterms:W3CDTF">2023-07-04T14:52:20Z</dcterms:created>
  <dcterms:modified xsi:type="dcterms:W3CDTF">2026-01-07T04:29:17Z</dcterms:modified>
</cp:coreProperties>
</file>