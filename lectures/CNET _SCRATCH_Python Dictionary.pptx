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0" r:id="rId4"/>
    <p:sldId id="259" r:id="rId5"/>
    <p:sldId id="260" r:id="rId6"/>
    <p:sldId id="269" r:id="rId7"/>
    <p:sldId id="271" r:id="rId8"/>
    <p:sldId id="261" r:id="rId9"/>
    <p:sldId id="262" r:id="rId10"/>
    <p:sldId id="263" r:id="rId11"/>
    <p:sldId id="264" r:id="rId12"/>
    <p:sldId id="265" r:id="rId13"/>
    <p:sldId id="266"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08" autoAdjust="0"/>
    <p:restoredTop sz="94660"/>
  </p:normalViewPr>
  <p:slideViewPr>
    <p:cSldViewPr snapToGrid="0">
      <p:cViewPr varScale="1">
        <p:scale>
          <a:sx n="82" d="100"/>
          <a:sy n="82" d="100"/>
        </p:scale>
        <p:origin x="965"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4/2/2026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LẬP TRÌNH PYTHON</a:t>
            </a:r>
          </a:p>
        </p:txBody>
      </p:sp>
      <p:sp>
        <p:nvSpPr>
          <p:cNvPr id="3" name="Subtitle 2"/>
          <p:cNvSpPr>
            <a:spLocks noGrp="1"/>
          </p:cNvSpPr>
          <p:nvPr>
            <p:ph type="subTitle" idx="1"/>
          </p:nvPr>
        </p:nvSpPr>
        <p:spPr/>
        <p:txBody>
          <a:bodyPr/>
          <a:lstStyle/>
          <a:p>
            <a:r>
              <a:rPr lang="en-US" b="1"/>
              <a:t>CON ĐƯỜNG TRỞ THÀNH LẬP TRÌNH VIÊN PYTHON CHUYÊN NGHIỆP</a:t>
            </a:r>
          </a:p>
        </p:txBody>
      </p:sp>
    </p:spTree>
    <p:extLst>
      <p:ext uri="{BB962C8B-B14F-4D97-AF65-F5344CB8AC3E}">
        <p14:creationId xmlns:p14="http://schemas.microsoft.com/office/powerpoint/2010/main" val="121865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PYTHON dictionary	</a:t>
            </a:r>
          </a:p>
        </p:txBody>
      </p:sp>
      <p:sp>
        <p:nvSpPr>
          <p:cNvPr id="3" name="Content Placeholder 2"/>
          <p:cNvSpPr>
            <a:spLocks noGrp="1"/>
          </p:cNvSpPr>
          <p:nvPr>
            <p:ph idx="1"/>
          </p:nvPr>
        </p:nvSpPr>
        <p:spPr>
          <a:xfrm>
            <a:off x="685802" y="1110345"/>
            <a:ext cx="6799216" cy="5610418"/>
          </a:xfrm>
        </p:spPr>
        <p:txBody>
          <a:bodyPr anchor="t" anchorCtr="0">
            <a:normAutofit/>
          </a:bodyPr>
          <a:lstStyle/>
          <a:p>
            <a:r>
              <a:rPr lang="vi-VN">
                <a:latin typeface="Calibri (Body)"/>
              </a:rPr>
              <a:t>Từ điển dữ liệu (Dictionary) còn được gọi là mảng liên kết (associative array) trong một số ngôn ngữ lập trình, là một dạng danh sách như bạn đã được tìm hiểu. Có một điểm khác là các phần tử trong danh sách được truy xuất thông qua vị trí thì phần tử trong từ điển được truy xuất qua khóa (key). Bạn có thể định nghĩa khóa này, nó có thể là một chuỗi hoặc số nhưng nó phải là duy nhất trong từ điển.</a:t>
            </a:r>
            <a:endParaRPr lang="en-US">
              <a:latin typeface="Calibri (Body)"/>
            </a:endParaRPr>
          </a:p>
          <a:p>
            <a:r>
              <a:rPr lang="vi-VN">
                <a:latin typeface="Calibri (Body)"/>
              </a:rPr>
              <a:t>Kiểu dữ liệu Dict (viết tắt của Dictionary) trong Python là một kiểu dữ liệu lưu trữ các cặp key-value, tương tự như List và Tuple. Tuy nhiên, các giá trị trong Dict không được sắp xếp theo một trật tự cụ thể nào.</a:t>
            </a:r>
            <a:endParaRPr lang="en-US">
              <a:latin typeface="Calibri (Body)"/>
            </a:endParaRPr>
          </a:p>
          <a:p>
            <a:endParaRPr lang="en-US" dirty="0">
              <a:latin typeface="Calibri (Body)"/>
            </a:endParaRPr>
          </a:p>
        </p:txBody>
      </p:sp>
      <p:pic>
        <p:nvPicPr>
          <p:cNvPr id="5" name="Picture 4"/>
          <p:cNvPicPr>
            <a:picLocks noChangeAspect="1"/>
          </p:cNvPicPr>
          <p:nvPr/>
        </p:nvPicPr>
        <p:blipFill>
          <a:blip r:embed="rId2"/>
          <a:stretch>
            <a:fillRect/>
          </a:stretch>
        </p:blipFill>
        <p:spPr>
          <a:xfrm>
            <a:off x="1060269" y="4607378"/>
            <a:ext cx="7535344" cy="970461"/>
          </a:xfrm>
          <a:prstGeom prst="rect">
            <a:avLst/>
          </a:prstGeom>
        </p:spPr>
      </p:pic>
    </p:spTree>
    <p:extLst>
      <p:ext uri="{BB962C8B-B14F-4D97-AF65-F5344CB8AC3E}">
        <p14:creationId xmlns:p14="http://schemas.microsoft.com/office/powerpoint/2010/main" val="4286085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So sánh List, Tuple, Set và Dictionary	</a:t>
            </a:r>
          </a:p>
        </p:txBody>
      </p:sp>
      <p:sp>
        <p:nvSpPr>
          <p:cNvPr id="3" name="Content Placeholder 2"/>
          <p:cNvSpPr>
            <a:spLocks noGrp="1"/>
          </p:cNvSpPr>
          <p:nvPr>
            <p:ph idx="1"/>
          </p:nvPr>
        </p:nvSpPr>
        <p:spPr>
          <a:xfrm>
            <a:off x="685802" y="1110345"/>
            <a:ext cx="8941524" cy="5610418"/>
          </a:xfrm>
        </p:spPr>
        <p:txBody>
          <a:bodyPr anchor="t" anchorCtr="0">
            <a:normAutofit/>
          </a:bodyPr>
          <a:lstStyle/>
          <a:p>
            <a:r>
              <a:rPr lang="vi-VN">
                <a:latin typeface="Calibri (Body)"/>
              </a:rPr>
              <a:t>Chúng ta cùng đúc kết để có được câu trả lời cho: Khi nào dùng List, Tuple, Set hay Dictionary trong Python?</a:t>
            </a:r>
          </a:p>
          <a:p>
            <a:r>
              <a:rPr lang="vi-VN">
                <a:latin typeface="Calibri (Body)"/>
              </a:rPr>
              <a:t>Sử dụng List khi muốn có dữ liệu truy xuất theo thứ tự (vị trí của phần tử tăng dần từ 0), dữ liệu List ở dạng đơn giản và thay đổi thường xuyên.</a:t>
            </a:r>
          </a:p>
          <a:p>
            <a:r>
              <a:rPr lang="vi-VN">
                <a:latin typeface="Calibri (Body)"/>
              </a:rPr>
              <a:t>Sử dụng Set khi muốn dữ liệu là duy nhất và dễ dàng thực hiện các phép toán tập hợp như phép giao, hợp, trừ.</a:t>
            </a:r>
          </a:p>
          <a:p>
            <a:r>
              <a:rPr lang="vi-VN">
                <a:latin typeface="Calibri (Body)"/>
              </a:rPr>
              <a:t>Sử dụng Tuple khi dữ liệu không thay đổi và cần tốc độ xử lý.</a:t>
            </a:r>
          </a:p>
          <a:p>
            <a:r>
              <a:rPr lang="vi-VN">
                <a:latin typeface="Calibri (Body)"/>
              </a:rPr>
              <a:t>Sử dụng Dictionary khi dữ liệu thay đổi liên tục, có sự liên kết logic giữa khóa và giá trị và một điểm nhấn quan trọng là muốn truy xuất dữ liệu nhanh thông qua khóa.</a:t>
            </a:r>
            <a:endParaRPr lang="en-US" dirty="0">
              <a:latin typeface="Calibri (Body)"/>
            </a:endParaRPr>
          </a:p>
        </p:txBody>
      </p:sp>
    </p:spTree>
    <p:extLst>
      <p:ext uri="{BB962C8B-B14F-4D97-AF65-F5344CB8AC3E}">
        <p14:creationId xmlns:p14="http://schemas.microsoft.com/office/powerpoint/2010/main" val="282483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KHAI BÁO DICTIONARY	</a:t>
            </a:r>
          </a:p>
        </p:txBody>
      </p:sp>
      <p:sp>
        <p:nvSpPr>
          <p:cNvPr id="3" name="Content Placeholder 2"/>
          <p:cNvSpPr>
            <a:spLocks noGrp="1"/>
          </p:cNvSpPr>
          <p:nvPr>
            <p:ph idx="1"/>
          </p:nvPr>
        </p:nvSpPr>
        <p:spPr>
          <a:xfrm>
            <a:off x="685802" y="1110345"/>
            <a:ext cx="6473868" cy="5610418"/>
          </a:xfrm>
        </p:spPr>
        <p:txBody>
          <a:bodyPr anchor="t" anchorCtr="0">
            <a:normAutofit/>
          </a:bodyPr>
          <a:lstStyle/>
          <a:p>
            <a:r>
              <a:rPr lang="vi-VN">
                <a:latin typeface="Calibri (Body)"/>
              </a:rPr>
              <a:t>Dictionary trong Python được khai báo với cặp dấu ngoặc nhọn {} bao ngoài giống như với Set. Bên trong các phần tử theo cặp (khóa và giá trị) được phân tách bởi dấu phẩy, phân tách giữa khóa và giá trị của từng phần tử bởi dấu hai chấm. Cú pháp chung như sau:</a:t>
            </a:r>
            <a:endParaRPr lang="en-US">
              <a:latin typeface="Calibri (Body)"/>
            </a:endParaRPr>
          </a:p>
          <a:p>
            <a:pPr lvl="1"/>
            <a:r>
              <a:rPr lang="en-US">
                <a:latin typeface="Calibri (Body)"/>
              </a:rPr>
              <a:t>dictionary_name = {key_1: value_1, key_2: value_2, ..., key_n: value_n}</a:t>
            </a:r>
          </a:p>
          <a:p>
            <a:r>
              <a:rPr lang="vi-VN">
                <a:latin typeface="Calibri (Body)"/>
              </a:rPr>
              <a:t>Truy xuất giá trị:</a:t>
            </a:r>
            <a:r>
              <a:rPr lang="en-US">
                <a:latin typeface="Calibri (Body)"/>
              </a:rPr>
              <a:t> Dictionary có thể truy xuất giá trị từng phần tử thông qua các khóa theo cú pháp:</a:t>
            </a:r>
          </a:p>
          <a:p>
            <a:pPr lvl="1"/>
            <a:r>
              <a:rPr lang="en-US">
                <a:latin typeface="Calibri (Body)"/>
              </a:rPr>
              <a:t>dictionary_name[key_x]</a:t>
            </a:r>
          </a:p>
          <a:p>
            <a:r>
              <a:rPr lang="vi-VN">
                <a:latin typeface="Calibri (Body)"/>
              </a:rPr>
              <a:t>Thay đổi giá trị:</a:t>
            </a:r>
            <a:r>
              <a:rPr lang="en-US">
                <a:latin typeface="Calibri (Body)"/>
              </a:rPr>
              <a:t> Dictionary trong Python có thể thay đổi thêm bớt các phần tử, thay đổi giá trị của các phần tử hiện có.</a:t>
            </a:r>
          </a:p>
          <a:p>
            <a:pPr lvl="1"/>
            <a:endParaRPr lang="en-US">
              <a:latin typeface="Calibri (Body)"/>
            </a:endParaRPr>
          </a:p>
        </p:txBody>
      </p:sp>
      <p:pic>
        <p:nvPicPr>
          <p:cNvPr id="6" name="Picture 5"/>
          <p:cNvPicPr>
            <a:picLocks noChangeAspect="1"/>
          </p:cNvPicPr>
          <p:nvPr/>
        </p:nvPicPr>
        <p:blipFill>
          <a:blip r:embed="rId2"/>
          <a:stretch>
            <a:fillRect/>
          </a:stretch>
        </p:blipFill>
        <p:spPr>
          <a:xfrm>
            <a:off x="7159670" y="1224234"/>
            <a:ext cx="4848225" cy="1457325"/>
          </a:xfrm>
          <a:prstGeom prst="rect">
            <a:avLst/>
          </a:prstGeom>
        </p:spPr>
      </p:pic>
      <p:pic>
        <p:nvPicPr>
          <p:cNvPr id="8" name="Picture 7"/>
          <p:cNvPicPr>
            <a:picLocks noChangeAspect="1"/>
          </p:cNvPicPr>
          <p:nvPr/>
        </p:nvPicPr>
        <p:blipFill>
          <a:blip r:embed="rId3"/>
          <a:stretch>
            <a:fillRect/>
          </a:stretch>
        </p:blipFill>
        <p:spPr>
          <a:xfrm>
            <a:off x="7131095" y="3253566"/>
            <a:ext cx="4876800" cy="1323975"/>
          </a:xfrm>
          <a:prstGeom prst="rect">
            <a:avLst/>
          </a:prstGeom>
        </p:spPr>
      </p:pic>
    </p:spTree>
    <p:extLst>
      <p:ext uri="{BB962C8B-B14F-4D97-AF65-F5344CB8AC3E}">
        <p14:creationId xmlns:p14="http://schemas.microsoft.com/office/powerpoint/2010/main" val="4208461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Thao tác trên DICTIONARY	</a:t>
            </a:r>
          </a:p>
        </p:txBody>
      </p:sp>
      <p:sp>
        <p:nvSpPr>
          <p:cNvPr id="3" name="Content Placeholder 2"/>
          <p:cNvSpPr>
            <a:spLocks noGrp="1"/>
          </p:cNvSpPr>
          <p:nvPr>
            <p:ph idx="1"/>
          </p:nvPr>
        </p:nvSpPr>
        <p:spPr>
          <a:xfrm>
            <a:off x="685802" y="1110345"/>
            <a:ext cx="6473868" cy="5610418"/>
          </a:xfrm>
        </p:spPr>
        <p:txBody>
          <a:bodyPr anchor="t" anchorCtr="0">
            <a:normAutofit/>
          </a:bodyPr>
          <a:lstStyle/>
          <a:p>
            <a:r>
              <a:rPr lang="vi-VN">
                <a:latin typeface="Calibri (Body)"/>
              </a:rPr>
              <a:t>Phương thức .keys() và .values()</a:t>
            </a:r>
          </a:p>
          <a:p>
            <a:r>
              <a:rPr lang="vi-VN">
                <a:latin typeface="Calibri (Body)"/>
              </a:rPr>
              <a:t>Hai phương thức này trả về danh sách khóa và danh sách các giá trị của từ điển. Ví dụ:</a:t>
            </a:r>
            <a:endParaRPr lang="en-US">
              <a:latin typeface="Calibri (Body)"/>
            </a:endParaRPr>
          </a:p>
        </p:txBody>
      </p:sp>
      <p:pic>
        <p:nvPicPr>
          <p:cNvPr id="11" name="Picture 10"/>
          <p:cNvPicPr>
            <a:picLocks noChangeAspect="1"/>
          </p:cNvPicPr>
          <p:nvPr/>
        </p:nvPicPr>
        <p:blipFill>
          <a:blip r:embed="rId2"/>
          <a:stretch>
            <a:fillRect/>
          </a:stretch>
        </p:blipFill>
        <p:spPr>
          <a:xfrm>
            <a:off x="992096" y="2470376"/>
            <a:ext cx="8361227" cy="1500733"/>
          </a:xfrm>
          <a:prstGeom prst="rect">
            <a:avLst/>
          </a:prstGeom>
        </p:spPr>
      </p:pic>
    </p:spTree>
    <p:extLst>
      <p:ext uri="{BB962C8B-B14F-4D97-AF65-F5344CB8AC3E}">
        <p14:creationId xmlns:p14="http://schemas.microsoft.com/office/powerpoint/2010/main" val="1416087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Thao tác trên DICTIONARY	</a:t>
            </a:r>
          </a:p>
        </p:txBody>
      </p:sp>
      <p:sp>
        <p:nvSpPr>
          <p:cNvPr id="3" name="Content Placeholder 2"/>
          <p:cNvSpPr>
            <a:spLocks noGrp="1"/>
          </p:cNvSpPr>
          <p:nvPr>
            <p:ph idx="1"/>
          </p:nvPr>
        </p:nvSpPr>
        <p:spPr>
          <a:xfrm>
            <a:off x="685802" y="1110345"/>
            <a:ext cx="6146072" cy="5610418"/>
          </a:xfrm>
        </p:spPr>
        <p:txBody>
          <a:bodyPr anchor="t" anchorCtr="0">
            <a:normAutofit/>
          </a:bodyPr>
          <a:lstStyle/>
          <a:p>
            <a:r>
              <a:rPr lang="vi-VN">
                <a:latin typeface="Calibri (Body)"/>
              </a:rPr>
              <a:t>Xóa phần tử khỏi từ điển</a:t>
            </a:r>
          </a:p>
          <a:p>
            <a:r>
              <a:rPr lang="vi-VN">
                <a:latin typeface="Calibri (Body)"/>
              </a:rPr>
              <a:t>.clear() Xóa toàn bộ các phần tử khỏi từ điển.</a:t>
            </a:r>
            <a:endParaRPr lang="en-US">
              <a:latin typeface="Calibri (Body)"/>
            </a:endParaRPr>
          </a:p>
          <a:p>
            <a:r>
              <a:rPr lang="vi-VN">
                <a:latin typeface="Calibri (Body)"/>
              </a:rPr>
              <a:t>.popitem() Xóa</a:t>
            </a:r>
            <a:r>
              <a:rPr lang="en-US">
                <a:latin typeface="Calibri (Body)"/>
              </a:rPr>
              <a:t> phần tử cuối cùng khỏi từ điển</a:t>
            </a:r>
            <a:endParaRPr lang="vi-VN">
              <a:latin typeface="Calibri (Body)"/>
            </a:endParaRPr>
          </a:p>
          <a:p>
            <a:r>
              <a:rPr lang="vi-VN">
                <a:latin typeface="Calibri (Body)"/>
              </a:rPr>
              <a:t>.pop() Xóa một phần tử với khóa cho trước khỏi từ điển.</a:t>
            </a:r>
            <a:endParaRPr lang="en-US">
              <a:latin typeface="Calibri (Body)"/>
            </a:endParaRPr>
          </a:p>
          <a:p>
            <a:r>
              <a:rPr lang="en-US">
                <a:latin typeface="Calibri (Body)"/>
              </a:rPr>
              <a:t>.update() Cập nhật/thêm cặp (key, value) mới (hoặc từ một từ điển khác) vào từ điển đã có</a:t>
            </a:r>
          </a:p>
        </p:txBody>
      </p:sp>
      <p:pic>
        <p:nvPicPr>
          <p:cNvPr id="5" name="Picture 4"/>
          <p:cNvPicPr>
            <a:picLocks noChangeAspect="1"/>
          </p:cNvPicPr>
          <p:nvPr/>
        </p:nvPicPr>
        <p:blipFill>
          <a:blip r:embed="rId2"/>
          <a:stretch>
            <a:fillRect/>
          </a:stretch>
        </p:blipFill>
        <p:spPr>
          <a:xfrm>
            <a:off x="7052717" y="1390997"/>
            <a:ext cx="4990868" cy="839076"/>
          </a:xfrm>
          <a:prstGeom prst="rect">
            <a:avLst/>
          </a:prstGeom>
        </p:spPr>
      </p:pic>
      <p:pic>
        <p:nvPicPr>
          <p:cNvPr id="9" name="Picture 8"/>
          <p:cNvPicPr>
            <a:picLocks noChangeAspect="1"/>
          </p:cNvPicPr>
          <p:nvPr/>
        </p:nvPicPr>
        <p:blipFill>
          <a:blip r:embed="rId3"/>
          <a:stretch>
            <a:fillRect/>
          </a:stretch>
        </p:blipFill>
        <p:spPr>
          <a:xfrm>
            <a:off x="7052717" y="2665126"/>
            <a:ext cx="4876800" cy="1381125"/>
          </a:xfrm>
          <a:prstGeom prst="rect">
            <a:avLst/>
          </a:prstGeom>
        </p:spPr>
      </p:pic>
      <p:pic>
        <p:nvPicPr>
          <p:cNvPr id="6" name="Picture 5"/>
          <p:cNvPicPr>
            <a:picLocks noChangeAspect="1"/>
          </p:cNvPicPr>
          <p:nvPr/>
        </p:nvPicPr>
        <p:blipFill>
          <a:blip r:embed="rId4"/>
          <a:stretch>
            <a:fillRect/>
          </a:stretch>
        </p:blipFill>
        <p:spPr>
          <a:xfrm>
            <a:off x="3528467" y="4434763"/>
            <a:ext cx="8401050" cy="2286000"/>
          </a:xfrm>
          <a:prstGeom prst="rect">
            <a:avLst/>
          </a:prstGeom>
        </p:spPr>
      </p:pic>
    </p:spTree>
    <p:extLst>
      <p:ext uri="{BB962C8B-B14F-4D97-AF65-F5344CB8AC3E}">
        <p14:creationId xmlns:p14="http://schemas.microsoft.com/office/powerpoint/2010/main" val="839112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Thao tác trên DICTIONARY	</a:t>
            </a:r>
          </a:p>
        </p:txBody>
      </p:sp>
      <p:sp>
        <p:nvSpPr>
          <p:cNvPr id="3" name="Content Placeholder 2"/>
          <p:cNvSpPr>
            <a:spLocks noGrp="1"/>
          </p:cNvSpPr>
          <p:nvPr>
            <p:ph idx="1"/>
          </p:nvPr>
        </p:nvSpPr>
        <p:spPr>
          <a:xfrm>
            <a:off x="685802" y="1110345"/>
            <a:ext cx="6473868" cy="5610418"/>
          </a:xfrm>
        </p:spPr>
        <p:txBody>
          <a:bodyPr anchor="t" anchorCtr="0">
            <a:normAutofit/>
          </a:bodyPr>
          <a:lstStyle/>
          <a:p>
            <a:r>
              <a:rPr lang="en-US">
                <a:latin typeface="Calibri (Body)"/>
              </a:rPr>
              <a:t>Phương thức items() trả về danh sách các cặp (key, value) của từ điển</a:t>
            </a:r>
          </a:p>
          <a:p>
            <a:r>
              <a:rPr lang="en-US">
                <a:latin typeface="Calibri (Body)"/>
              </a:rPr>
              <a:t>items() cung cấp một phương pháp thuận tiện cho truy cập vào các cặp (key, value) của một từ điển</a:t>
            </a:r>
          </a:p>
        </p:txBody>
      </p:sp>
      <p:pic>
        <p:nvPicPr>
          <p:cNvPr id="6" name="Picture 5"/>
          <p:cNvPicPr>
            <a:picLocks noChangeAspect="1"/>
          </p:cNvPicPr>
          <p:nvPr/>
        </p:nvPicPr>
        <p:blipFill>
          <a:blip r:embed="rId2"/>
          <a:stretch>
            <a:fillRect/>
          </a:stretch>
        </p:blipFill>
        <p:spPr>
          <a:xfrm>
            <a:off x="2386739" y="2790008"/>
            <a:ext cx="7017410" cy="2278380"/>
          </a:xfrm>
          <a:prstGeom prst="rect">
            <a:avLst/>
          </a:prstGeom>
        </p:spPr>
      </p:pic>
    </p:spTree>
    <p:extLst>
      <p:ext uri="{BB962C8B-B14F-4D97-AF65-F5344CB8AC3E}">
        <p14:creationId xmlns:p14="http://schemas.microsoft.com/office/powerpoint/2010/main" val="1601770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1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9295" y="1333488"/>
            <a:ext cx="8089574" cy="4771396"/>
          </a:xfrm>
        </p:spPr>
      </p:pic>
    </p:spTree>
    <p:extLst>
      <p:ext uri="{BB962C8B-B14F-4D97-AF65-F5344CB8AC3E}">
        <p14:creationId xmlns:p14="http://schemas.microsoft.com/office/powerpoint/2010/main" val="3608612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2</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4869" y="1347696"/>
            <a:ext cx="8778329" cy="4961664"/>
          </a:xfrm>
        </p:spPr>
      </p:pic>
    </p:spTree>
    <p:extLst>
      <p:ext uri="{BB962C8B-B14F-4D97-AF65-F5344CB8AC3E}">
        <p14:creationId xmlns:p14="http://schemas.microsoft.com/office/powerpoint/2010/main" val="2638935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3</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0716" y="1357766"/>
            <a:ext cx="7177627" cy="5095899"/>
          </a:xfrm>
        </p:spPr>
      </p:pic>
    </p:spTree>
    <p:extLst>
      <p:ext uri="{BB962C8B-B14F-4D97-AF65-F5344CB8AC3E}">
        <p14:creationId xmlns:p14="http://schemas.microsoft.com/office/powerpoint/2010/main" val="271064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4</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1334" y="1315723"/>
            <a:ext cx="9172563" cy="5103532"/>
          </a:xfrm>
        </p:spPr>
      </p:pic>
    </p:spTree>
    <p:extLst>
      <p:ext uri="{BB962C8B-B14F-4D97-AF65-F5344CB8AC3E}">
        <p14:creationId xmlns:p14="http://schemas.microsoft.com/office/powerpoint/2010/main" val="1555618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5</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9769" y="1439278"/>
            <a:ext cx="9039625" cy="4938064"/>
          </a:xfrm>
        </p:spPr>
      </p:pic>
    </p:spTree>
    <p:extLst>
      <p:ext uri="{BB962C8B-B14F-4D97-AF65-F5344CB8AC3E}">
        <p14:creationId xmlns:p14="http://schemas.microsoft.com/office/powerpoint/2010/main" val="1005034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a:t>Bài tập 6</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5759" y="1465262"/>
            <a:ext cx="8889944" cy="5032296"/>
          </a:xfrm>
        </p:spPr>
      </p:pic>
    </p:spTree>
    <p:extLst>
      <p:ext uri="{BB962C8B-B14F-4D97-AF65-F5344CB8AC3E}">
        <p14:creationId xmlns:p14="http://schemas.microsoft.com/office/powerpoint/2010/main" val="1095683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8"/>
            <a:ext cx="10131425" cy="725186"/>
          </a:xfrm>
        </p:spPr>
        <p:txBody>
          <a:bodyPr/>
          <a:lstStyle/>
          <a:p>
            <a:r>
              <a:rPr lang="en-US" b="1" dirty="0" err="1"/>
              <a:t>Bài</a:t>
            </a:r>
            <a:r>
              <a:rPr lang="en-US" b="1" dirty="0"/>
              <a:t> </a:t>
            </a:r>
            <a:r>
              <a:rPr lang="en-US" b="1" dirty="0" err="1"/>
              <a:t>tập</a:t>
            </a:r>
            <a:r>
              <a:rPr lang="en-US" b="1"/>
              <a:t> 7</a:t>
            </a:r>
            <a:endParaRPr lang="en-US" b="1" dirty="0"/>
          </a:p>
        </p:txBody>
      </p:sp>
      <p:sp>
        <p:nvSpPr>
          <p:cNvPr id="6" name="Rectangle 1">
            <a:extLst>
              <a:ext uri="{FF2B5EF4-FFF2-40B4-BE49-F238E27FC236}">
                <a16:creationId xmlns:a16="http://schemas.microsoft.com/office/drawing/2014/main" id="{C237F11C-CAFB-6A8B-B6D9-2642F91CBBBB}"/>
              </a:ext>
            </a:extLst>
          </p:cNvPr>
          <p:cNvSpPr>
            <a:spLocks noGrp="1" noChangeArrowheads="1"/>
          </p:cNvSpPr>
          <p:nvPr>
            <p:ph idx="1"/>
          </p:nvPr>
        </p:nvSpPr>
        <p:spPr bwMode="auto">
          <a:xfrm>
            <a:off x="685801" y="1110344"/>
            <a:ext cx="899004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err="1">
                <a:ln>
                  <a:noFill/>
                </a:ln>
                <a:solidFill>
                  <a:schemeClr val="tx1"/>
                </a:solidFill>
                <a:effectLst/>
                <a:latin typeface="Arial" panose="020B0604020202020204" pitchFamily="34" charset="0"/>
              </a:rPr>
              <a:t>Mô</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tả</a:t>
            </a:r>
            <a:r>
              <a:rPr kumimoji="0" lang="en-US" altLang="en-US" sz="2400" b="1" i="0" u="none" strike="noStrike" cap="none" normalizeH="0" baseline="0" dirty="0">
                <a:ln>
                  <a:noFill/>
                </a:ln>
                <a:solidFill>
                  <a:schemeClr val="tx1"/>
                </a:solidFill>
                <a:effectLst/>
                <a:latin typeface="Arial" panose="020B0604020202020204" pitchFamily="34" charset="0"/>
              </a:rPr>
              <a:t>:</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Cho </a:t>
            </a:r>
            <a:r>
              <a:rPr kumimoji="0" lang="en-US" altLang="en-US" sz="2400" b="0" i="0" u="none" strike="noStrike" cap="none" normalizeH="0" baseline="0" dirty="0" err="1">
                <a:ln>
                  <a:noFill/>
                </a:ln>
                <a:solidFill>
                  <a:schemeClr val="tx1"/>
                </a:solidFill>
                <a:effectLst/>
                <a:latin typeface="Arial" panose="020B0604020202020204" pitchFamily="34" charset="0"/>
              </a:rPr>
              <a:t>danh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sách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số</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nguyên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lst</a:t>
            </a:r>
            <a:r>
              <a:rPr kumimoji="0" lang="en-US" altLang="en-US" sz="2400" b="0" i="0" u="none" strike="noStrike" cap="none" normalizeH="0" baseline="0" dirty="0">
                <a:ln>
                  <a:noFill/>
                </a:ln>
                <a:solidFill>
                  <a:schemeClr val="tx1"/>
                </a:solidFill>
                <a:effectLst/>
                <a:latin typeface="Arial" panose="020B0604020202020204" pitchFamily="34" charset="0"/>
              </a:rPr>
              <a:t> = [1, 1, 2, 2, 2, 3, 3, 4, 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Arial" panose="020B0604020202020204" pitchFamily="34" charset="0"/>
              </a:rPr>
              <a:t>hãy</a:t>
            </a:r>
            <a:r>
              <a:rPr kumimoji="0" lang="en-US" altLang="en-US" sz="2400" b="0" i="0" u="none" strike="noStrike" cap="none" normalizeH="0" baseline="0" dirty="0">
                <a:ln>
                  <a:noFill/>
                </a:ln>
                <a:solidFill>
                  <a:schemeClr val="tx1"/>
                </a:solidFill>
                <a:effectLst/>
                <a:latin typeface="Arial" panose="020B0604020202020204" pitchFamily="34" charset="0"/>
              </a:rPr>
              <a:t>:</a:t>
            </a:r>
          </a:p>
          <a:p>
            <a:pPr defTabSz="914400" eaLnBrk="0" fontAlgn="base" hangingPunct="0">
              <a:spcBef>
                <a:spcPct val="0"/>
              </a:spcBef>
              <a:spcAft>
                <a:spcPct val="0"/>
              </a:spcAft>
              <a:buClrTx/>
              <a:buSzTx/>
            </a:pPr>
            <a:r>
              <a:rPr kumimoji="0" lang="en-US" altLang="en-US" sz="2400" b="0" i="0" u="none" strike="noStrike" cap="none" normalizeH="0" baseline="0" dirty="0" err="1">
                <a:ln>
                  <a:noFill/>
                </a:ln>
                <a:solidFill>
                  <a:schemeClr val="tx1"/>
                </a:solidFill>
                <a:effectLst/>
                <a:latin typeface="Arial" panose="020B0604020202020204" pitchFamily="34" charset="0"/>
              </a:rPr>
              <a:t>Nhóm</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các</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số</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theo</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số</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lần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xuất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hiện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In </a:t>
            </a:r>
            <a:r>
              <a:rPr kumimoji="0" lang="en-US" altLang="en-US" sz="2400" b="0" i="0" u="none" strike="noStrike" cap="none" normalizeH="0" baseline="0" dirty="0" err="1">
                <a:ln>
                  <a:noFill/>
                </a:ln>
                <a:solidFill>
                  <a:schemeClr val="tx1"/>
                </a:solidFill>
                <a:effectLst/>
                <a:latin typeface="Arial" panose="020B0604020202020204" pitchFamily="34" charset="0"/>
              </a:rPr>
              <a:t>ra</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theo</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dạng</a:t>
            </a:r>
            <a:r>
              <a:rPr kumimoji="0" lang="en-US" altLang="en-US" sz="2400" b="0" i="0" u="none" strike="noStrike" cap="none" normalizeH="0" baseline="0" dirty="0">
                <a:ln>
                  <a:noFill/>
                </a:ln>
                <a:solidFill>
                  <a:schemeClr val="tx1"/>
                </a:solidFill>
                <a:effectLst/>
                <a:latin typeface="Arial" panose="020B0604020202020204" pitchFamily="34" charset="0"/>
              </a:rPr>
              <a:t>:</a:t>
            </a:r>
          </a:p>
          <a:p>
            <a:pPr lvl="1" defTabSz="914400" eaLnBrk="0" fontAlgn="base" hangingPunct="0">
              <a:spcBef>
                <a:spcPct val="0"/>
              </a:spcBef>
              <a:spcAft>
                <a:spcPct val="0"/>
              </a:spcAft>
              <a:buClrTx/>
              <a:buSzTx/>
            </a:pPr>
            <a:r>
              <a:rPr kumimoji="0" lang="en-US" altLang="en-US" sz="2400" b="0" i="0" u="none" strike="noStrike" cap="none" normalizeH="0" baseline="0" dirty="0" err="1">
                <a:ln>
                  <a:noFill/>
                </a:ln>
                <a:solidFill>
                  <a:schemeClr val="tx1"/>
                </a:solidFill>
                <a:effectLst/>
                <a:latin typeface="Arial Unicode MS"/>
              </a:rPr>
              <a:t>Xuất</a:t>
            </a:r>
            <a:r>
              <a:rPr kumimoji="0" lang="en-US" altLang="en-US" sz="2400" b="0" i="0" u="none" strike="noStrike" cap="none" normalizeH="0" baseline="0" dirty="0">
                <a:ln>
                  <a:noFill/>
                </a:ln>
                <a:solidFill>
                  <a:schemeClr val="tx1"/>
                </a:solidFill>
                <a:effectLst/>
                <a:latin typeface="Arial Unicode MS"/>
              </a:rPr>
              <a:t> </a:t>
            </a:r>
            <a:r>
              <a:rPr kumimoji="0" lang="en-US" altLang="en-US" sz="2400" b="0" i="0" u="none" strike="noStrike" cap="none" normalizeH="0" baseline="0" dirty="0" err="1">
                <a:ln>
                  <a:noFill/>
                </a:ln>
                <a:solidFill>
                  <a:schemeClr val="tx1"/>
                </a:solidFill>
                <a:effectLst/>
                <a:latin typeface="Arial Unicode MS"/>
              </a:rPr>
              <a:t>hiện</a:t>
            </a:r>
            <a:r>
              <a:rPr kumimoji="0" lang="en-US" altLang="en-US" sz="2400" b="0" i="0" u="none" strike="noStrike" cap="none" normalizeH="0" baseline="0" dirty="0">
                <a:ln>
                  <a:noFill/>
                </a:ln>
                <a:solidFill>
                  <a:schemeClr val="tx1"/>
                </a:solidFill>
                <a:effectLst/>
                <a:latin typeface="Arial Unicode MS"/>
              </a:rPr>
              <a:t> 1 </a:t>
            </a:r>
            <a:r>
              <a:rPr kumimoji="0" lang="en-US" altLang="en-US" sz="2400" b="0" i="0" u="none" strike="noStrike" cap="none" normalizeH="0" baseline="0" dirty="0" err="1">
                <a:ln>
                  <a:noFill/>
                </a:ln>
                <a:solidFill>
                  <a:schemeClr val="tx1"/>
                </a:solidFill>
                <a:effectLst/>
                <a:latin typeface="Arial Unicode MS"/>
              </a:rPr>
              <a:t>lần</a:t>
            </a:r>
            <a:r>
              <a:rPr kumimoji="0" lang="en-US" altLang="en-US" sz="2400" b="0" i="0" u="none" strike="noStrike" cap="none" normalizeH="0" baseline="0" dirty="0">
                <a:ln>
                  <a:noFill/>
                </a:ln>
                <a:solidFill>
                  <a:schemeClr val="tx1"/>
                </a:solidFill>
                <a:effectLst/>
                <a:latin typeface="Arial Unicode MS"/>
              </a:rPr>
              <a:t>: 4, 5 </a:t>
            </a:r>
          </a:p>
          <a:p>
            <a:pPr lvl="1" defTabSz="914400" eaLnBrk="0" fontAlgn="base" hangingPunct="0">
              <a:spcBef>
                <a:spcPct val="0"/>
              </a:spcBef>
              <a:spcAft>
                <a:spcPct val="0"/>
              </a:spcAft>
              <a:buClrTx/>
              <a:buSzTx/>
            </a:pPr>
            <a:r>
              <a:rPr kumimoji="0" lang="en-US" altLang="en-US" sz="2400" b="0" i="0" u="none" strike="noStrike" cap="none" normalizeH="0" baseline="0" dirty="0" err="1">
                <a:ln>
                  <a:noFill/>
                </a:ln>
                <a:solidFill>
                  <a:schemeClr val="tx1"/>
                </a:solidFill>
                <a:effectLst/>
                <a:latin typeface="Arial Unicode MS"/>
              </a:rPr>
              <a:t>Xuất</a:t>
            </a:r>
            <a:r>
              <a:rPr kumimoji="0" lang="en-US" altLang="en-US" sz="2400" b="0" i="0" u="none" strike="noStrike" cap="none" normalizeH="0" baseline="0" dirty="0">
                <a:ln>
                  <a:noFill/>
                </a:ln>
                <a:solidFill>
                  <a:schemeClr val="tx1"/>
                </a:solidFill>
                <a:effectLst/>
                <a:latin typeface="Arial Unicode MS"/>
              </a:rPr>
              <a:t> </a:t>
            </a:r>
            <a:r>
              <a:rPr kumimoji="0" lang="en-US" altLang="en-US" sz="2400" b="0" i="0" u="none" strike="noStrike" cap="none" normalizeH="0" baseline="0" dirty="0" err="1">
                <a:ln>
                  <a:noFill/>
                </a:ln>
                <a:solidFill>
                  <a:schemeClr val="tx1"/>
                </a:solidFill>
                <a:effectLst/>
                <a:latin typeface="Arial Unicode MS"/>
              </a:rPr>
              <a:t>hiện</a:t>
            </a:r>
            <a:r>
              <a:rPr kumimoji="0" lang="en-US" altLang="en-US" sz="2400" b="0" i="0" u="none" strike="noStrike" cap="none" normalizeH="0" baseline="0" dirty="0">
                <a:ln>
                  <a:noFill/>
                </a:ln>
                <a:solidFill>
                  <a:schemeClr val="tx1"/>
                </a:solidFill>
                <a:effectLst/>
                <a:latin typeface="Arial Unicode MS"/>
              </a:rPr>
              <a:t> 2 </a:t>
            </a:r>
            <a:r>
              <a:rPr kumimoji="0" lang="en-US" altLang="en-US" sz="2400" b="0" i="0" u="none" strike="noStrike" cap="none" normalizeH="0" baseline="0" dirty="0" err="1">
                <a:ln>
                  <a:noFill/>
                </a:ln>
                <a:solidFill>
                  <a:schemeClr val="tx1"/>
                </a:solidFill>
                <a:effectLst/>
                <a:latin typeface="Arial Unicode MS"/>
              </a:rPr>
              <a:t>lần</a:t>
            </a:r>
            <a:r>
              <a:rPr kumimoji="0" lang="en-US" altLang="en-US" sz="2400" b="0" i="0" u="none" strike="noStrike" cap="none" normalizeH="0" baseline="0" dirty="0">
                <a:ln>
                  <a:noFill/>
                </a:ln>
                <a:solidFill>
                  <a:schemeClr val="tx1"/>
                </a:solidFill>
                <a:effectLst/>
                <a:latin typeface="Arial Unicode MS"/>
              </a:rPr>
              <a:t>: 1, 3 </a:t>
            </a:r>
          </a:p>
          <a:p>
            <a:pPr lvl="1" defTabSz="914400" eaLnBrk="0" fontAlgn="base" hangingPunct="0">
              <a:spcBef>
                <a:spcPct val="0"/>
              </a:spcBef>
              <a:spcAft>
                <a:spcPct val="0"/>
              </a:spcAft>
              <a:buClrTx/>
              <a:buSzTx/>
            </a:pPr>
            <a:r>
              <a:rPr kumimoji="0" lang="en-US" altLang="en-US" sz="2400" b="0" i="0" u="none" strike="noStrike" cap="none" normalizeH="0" baseline="0" dirty="0" err="1">
                <a:ln>
                  <a:noFill/>
                </a:ln>
                <a:solidFill>
                  <a:schemeClr val="tx1"/>
                </a:solidFill>
                <a:effectLst/>
                <a:latin typeface="Arial Unicode MS"/>
              </a:rPr>
              <a:t>Xuất</a:t>
            </a:r>
            <a:r>
              <a:rPr kumimoji="0" lang="en-US" altLang="en-US" sz="2400" b="0" i="0" u="none" strike="noStrike" cap="none" normalizeH="0" baseline="0" dirty="0">
                <a:ln>
                  <a:noFill/>
                </a:ln>
                <a:solidFill>
                  <a:schemeClr val="tx1"/>
                </a:solidFill>
                <a:effectLst/>
                <a:latin typeface="Arial Unicode MS"/>
              </a:rPr>
              <a:t> </a:t>
            </a:r>
            <a:r>
              <a:rPr kumimoji="0" lang="en-US" altLang="en-US" sz="2400" b="0" i="0" u="none" strike="noStrike" cap="none" normalizeH="0" baseline="0" dirty="0" err="1">
                <a:ln>
                  <a:noFill/>
                </a:ln>
                <a:solidFill>
                  <a:schemeClr val="tx1"/>
                </a:solidFill>
                <a:effectLst/>
                <a:latin typeface="Arial Unicode MS"/>
              </a:rPr>
              <a:t>hiện</a:t>
            </a:r>
            <a:r>
              <a:rPr kumimoji="0" lang="en-US" altLang="en-US" sz="2400" b="0" i="0" u="none" strike="noStrike" cap="none" normalizeH="0" baseline="0" dirty="0">
                <a:ln>
                  <a:noFill/>
                </a:ln>
                <a:solidFill>
                  <a:schemeClr val="tx1"/>
                </a:solidFill>
                <a:effectLst/>
                <a:latin typeface="Arial Unicode MS"/>
              </a:rPr>
              <a:t> 3 </a:t>
            </a:r>
            <a:r>
              <a:rPr kumimoji="0" lang="en-US" altLang="en-US" sz="2400" b="0" i="0" u="none" strike="noStrike" cap="none" normalizeH="0" baseline="0" dirty="0" err="1">
                <a:ln>
                  <a:noFill/>
                </a:ln>
                <a:solidFill>
                  <a:schemeClr val="tx1"/>
                </a:solidFill>
                <a:effectLst/>
                <a:latin typeface="Arial Unicode MS"/>
              </a:rPr>
              <a:t>lần</a:t>
            </a:r>
            <a:r>
              <a:rPr kumimoji="0" lang="en-US" altLang="en-US" sz="2400" b="0" i="0" u="none" strike="noStrike" cap="none" normalizeH="0" baseline="0" dirty="0">
                <a:ln>
                  <a:noFill/>
                </a:ln>
                <a:solidFill>
                  <a:schemeClr val="tx1"/>
                </a:solidFill>
                <a:effectLst/>
                <a:latin typeface="Arial Unicode MS"/>
              </a:rPr>
              <a:t>: 2</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14040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3665</TotalTime>
  <Words>721</Words>
  <Application>Microsoft Office PowerPoint</Application>
  <PresentationFormat>Widescreen</PresentationFormat>
  <Paragraphs>43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Unicode MS</vt:lpstr>
      <vt:lpstr>Calibri</vt:lpstr>
      <vt:lpstr>Calibri (Body)</vt:lpstr>
      <vt:lpstr>Calibri Light</vt:lpstr>
      <vt:lpstr>Celestial</vt:lpstr>
      <vt:lpstr>LẬP TRÌNH PYTHON</vt:lpstr>
      <vt:lpstr>PYTHON dictionary </vt:lpstr>
      <vt:lpstr>So sánh List, Tuple, Set và Dictionary </vt:lpstr>
      <vt:lpstr>KHAI BÁO DICTIONARY </vt:lpstr>
      <vt:lpstr>Thao tác trên DICTIONARY </vt:lpstr>
      <vt:lpstr>Thao tác trên DICTIONARY </vt:lpstr>
      <vt:lpstr>Thao tác trên DICTIONARY </vt:lpstr>
      <vt:lpstr>Bài tập 1 </vt:lpstr>
      <vt:lpstr>Bài tập 2</vt:lpstr>
      <vt:lpstr>Bài tập 3</vt:lpstr>
      <vt:lpstr>Bài tập 4</vt:lpstr>
      <vt:lpstr>Bài tập 5</vt:lpstr>
      <vt:lpstr>Bài tập 6</vt:lpstr>
      <vt:lpstr>Bài tập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SCRATCH</dc:title>
  <dc:creator>Duc Tung</dc:creator>
  <cp:lastModifiedBy>Administrator</cp:lastModifiedBy>
  <cp:revision>146</cp:revision>
  <dcterms:created xsi:type="dcterms:W3CDTF">2023-07-04T14:52:20Z</dcterms:created>
  <dcterms:modified xsi:type="dcterms:W3CDTF">2026-04-02T08:55:33Z</dcterms:modified>
</cp:coreProperties>
</file>