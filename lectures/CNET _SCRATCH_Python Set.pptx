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83" r:id="rId6"/>
    <p:sldId id="260" r:id="rId7"/>
    <p:sldId id="276" r:id="rId8"/>
    <p:sldId id="277" r:id="rId9"/>
    <p:sldId id="278" r:id="rId10"/>
    <p:sldId id="279" r:id="rId11"/>
    <p:sldId id="280" r:id="rId12"/>
    <p:sldId id="281" r:id="rId13"/>
    <p:sldId id="282" r:id="rId14"/>
    <p:sldId id="284" r:id="rId15"/>
    <p:sldId id="28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8" autoAdjust="0"/>
    <p:restoredTop sz="94660"/>
  </p:normalViewPr>
  <p:slideViewPr>
    <p:cSldViewPr snapToGrid="0">
      <p:cViewPr varScale="1">
        <p:scale>
          <a:sx n="82" d="100"/>
          <a:sy n="82" d="100"/>
        </p:scale>
        <p:origin x="96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LẬP TRÌNH PYTHON</a:t>
            </a:r>
          </a:p>
        </p:txBody>
      </p:sp>
      <p:sp>
        <p:nvSpPr>
          <p:cNvPr id="3" name="Subtitle 2"/>
          <p:cNvSpPr>
            <a:spLocks noGrp="1"/>
          </p:cNvSpPr>
          <p:nvPr>
            <p:ph type="subTitle" idx="1"/>
          </p:nvPr>
        </p:nvSpPr>
        <p:spPr/>
        <p:txBody>
          <a:bodyPr/>
          <a:lstStyle/>
          <a:p>
            <a:r>
              <a:rPr lang="en-US" b="1"/>
              <a:t>CON ĐƯỜNG TRỞ THÀNH LẬP TRÌNH VIÊN PYTHON CHUYÊN NGHIỆP</a:t>
            </a:r>
          </a:p>
        </p:txBody>
      </p:sp>
    </p:spTree>
    <p:extLst>
      <p:ext uri="{BB962C8B-B14F-4D97-AF65-F5344CB8AC3E}">
        <p14:creationId xmlns:p14="http://schemas.microsoft.com/office/powerpoint/2010/main" val="121865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PYTHON SET - TẬP HỢP</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vi-VN" dirty="0">
                <a:latin typeface="Calibri (Body)"/>
              </a:rPr>
              <a:t>Trong </a:t>
            </a:r>
            <a:r>
              <a:rPr lang="vi-VN" dirty="0" err="1">
                <a:latin typeface="Calibri (Body)"/>
              </a:rPr>
              <a:t>Python</a:t>
            </a:r>
            <a:r>
              <a:rPr lang="vi-VN" dirty="0">
                <a:latin typeface="Calibri (Body)"/>
              </a:rPr>
              <a:t>, </a:t>
            </a:r>
            <a:r>
              <a:rPr lang="vi-VN" dirty="0" err="1">
                <a:latin typeface="Calibri (Body)"/>
              </a:rPr>
              <a:t>set</a:t>
            </a:r>
            <a:r>
              <a:rPr lang="vi-VN" dirty="0">
                <a:latin typeface="Calibri (Body)"/>
              </a:rPr>
              <a:t> là một kiểu dữ liệu dùng để lưu trữ các phần tử duy nhất, không có thứ tự và không thể thay đổi. Nó tương tự như tập hợp trong toán học, cho phép thực hiện các phép toán tập hợp như hợp, giao, hiệu, </a:t>
            </a:r>
            <a:r>
              <a:rPr lang="vi-VN" dirty="0" err="1">
                <a:latin typeface="Calibri (Body)"/>
              </a:rPr>
              <a:t>v.v</a:t>
            </a:r>
            <a:r>
              <a:rPr lang="vi-VN" dirty="0">
                <a:latin typeface="Calibri (Body)"/>
              </a:rPr>
              <a:t>. </a:t>
            </a:r>
            <a:endParaRPr lang="en-US" dirty="0">
              <a:latin typeface="Calibri (Body)"/>
            </a:endParaRPr>
          </a:p>
          <a:p>
            <a:r>
              <a:rPr lang="vi-VN" dirty="0">
                <a:latin typeface="Calibri (Body)"/>
              </a:rPr>
              <a:t>Đặc điểm chính của </a:t>
            </a:r>
            <a:r>
              <a:rPr lang="vi-VN" dirty="0" err="1">
                <a:latin typeface="Calibri (Body)"/>
              </a:rPr>
              <a:t>set</a:t>
            </a:r>
            <a:r>
              <a:rPr lang="vi-VN" dirty="0">
                <a:latin typeface="Calibri (Body)"/>
              </a:rPr>
              <a:t>:</a:t>
            </a:r>
          </a:p>
          <a:p>
            <a:pPr lvl="1"/>
            <a:r>
              <a:rPr lang="vi-VN" b="1" u="sng" dirty="0">
                <a:latin typeface="Calibri (Body)"/>
              </a:rPr>
              <a:t>Không trùng lặp:</a:t>
            </a:r>
            <a:r>
              <a:rPr lang="en-US" dirty="0">
                <a:latin typeface="Calibri (Body)"/>
              </a:rPr>
              <a:t> </a:t>
            </a:r>
            <a:r>
              <a:rPr lang="vi-VN" dirty="0">
                <a:latin typeface="Calibri (Body)"/>
              </a:rPr>
              <a:t>Mỗi phần tử trong </a:t>
            </a:r>
            <a:r>
              <a:rPr lang="vi-VN" dirty="0" err="1">
                <a:latin typeface="Calibri (Body)"/>
              </a:rPr>
              <a:t>set</a:t>
            </a:r>
            <a:r>
              <a:rPr lang="vi-VN" dirty="0">
                <a:latin typeface="Calibri (Body)"/>
              </a:rPr>
              <a:t> chỉ xuất hiện một lần duy nhất. Nếu bạn thêm một phần tử đã có vào </a:t>
            </a:r>
            <a:r>
              <a:rPr lang="vi-VN" dirty="0" err="1">
                <a:latin typeface="Calibri (Body)"/>
              </a:rPr>
              <a:t>set</a:t>
            </a:r>
            <a:r>
              <a:rPr lang="vi-VN" dirty="0">
                <a:latin typeface="Calibri (Body)"/>
              </a:rPr>
              <a:t>, nó sẽ không bị thêm lại.</a:t>
            </a:r>
          </a:p>
          <a:p>
            <a:pPr lvl="1"/>
            <a:r>
              <a:rPr lang="vi-VN" b="1" u="sng" dirty="0">
                <a:latin typeface="Calibri (Body)"/>
              </a:rPr>
              <a:t>Không có thứ tự:</a:t>
            </a:r>
            <a:r>
              <a:rPr lang="en-US" dirty="0">
                <a:latin typeface="Calibri (Body)"/>
              </a:rPr>
              <a:t> </a:t>
            </a:r>
            <a:r>
              <a:rPr lang="vi-VN" dirty="0">
                <a:latin typeface="Calibri (Body)"/>
              </a:rPr>
              <a:t>Các phần tử trong </a:t>
            </a:r>
            <a:r>
              <a:rPr lang="vi-VN" dirty="0" err="1">
                <a:latin typeface="Calibri (Body)"/>
              </a:rPr>
              <a:t>set</a:t>
            </a:r>
            <a:r>
              <a:rPr lang="vi-VN" dirty="0">
                <a:latin typeface="Calibri (Body)"/>
              </a:rPr>
              <a:t> không có thứ tự xác định. Bạn không thể truy cập các phần tử bằng chỉ số như trong danh sách (</a:t>
            </a:r>
            <a:r>
              <a:rPr lang="vi-VN" dirty="0" err="1">
                <a:latin typeface="Calibri (Body)"/>
              </a:rPr>
              <a:t>list</a:t>
            </a:r>
            <a:r>
              <a:rPr lang="vi-VN" dirty="0">
                <a:latin typeface="Calibri (Body)"/>
              </a:rPr>
              <a:t>).</a:t>
            </a:r>
          </a:p>
          <a:p>
            <a:pPr lvl="1"/>
            <a:r>
              <a:rPr lang="vi-VN" b="1" u="sng" dirty="0">
                <a:latin typeface="Calibri (Body)"/>
              </a:rPr>
              <a:t>Không thể thay đổi (</a:t>
            </a:r>
            <a:r>
              <a:rPr lang="vi-VN" b="1" u="sng" dirty="0" err="1">
                <a:latin typeface="Calibri (Body)"/>
              </a:rPr>
              <a:t>immutable</a:t>
            </a:r>
            <a:r>
              <a:rPr lang="vi-VN" b="1" u="sng" dirty="0">
                <a:latin typeface="Calibri (Body)"/>
              </a:rPr>
              <a:t>):</a:t>
            </a:r>
            <a:r>
              <a:rPr lang="en-US" dirty="0">
                <a:latin typeface="Calibri (Body)"/>
              </a:rPr>
              <a:t> </a:t>
            </a:r>
            <a:r>
              <a:rPr lang="vi-VN" dirty="0">
                <a:latin typeface="Calibri (Body)"/>
              </a:rPr>
              <a:t>Các phần tử trong </a:t>
            </a:r>
            <a:r>
              <a:rPr lang="vi-VN" dirty="0" err="1">
                <a:latin typeface="Calibri (Body)"/>
              </a:rPr>
              <a:t>set</a:t>
            </a:r>
            <a:r>
              <a:rPr lang="vi-VN" dirty="0">
                <a:latin typeface="Calibri (Body)"/>
              </a:rPr>
              <a:t> phải là các đối tượng không thể thay đổi (ví dụ: số nguyên, chuỗi, </a:t>
            </a:r>
            <a:r>
              <a:rPr lang="vi-VN" dirty="0" err="1">
                <a:latin typeface="Calibri (Body)"/>
              </a:rPr>
              <a:t>tuple</a:t>
            </a:r>
            <a:r>
              <a:rPr lang="vi-VN" dirty="0">
                <a:latin typeface="Calibri (Body)"/>
              </a:rPr>
              <a:t>). Tuy nhiên, bản thân </a:t>
            </a:r>
            <a:r>
              <a:rPr lang="vi-VN" dirty="0" err="1">
                <a:latin typeface="Calibri (Body)"/>
              </a:rPr>
              <a:t>set</a:t>
            </a:r>
            <a:r>
              <a:rPr lang="vi-VN" dirty="0">
                <a:latin typeface="Calibri (Body)"/>
              </a:rPr>
              <a:t> có thể thay đổi (có thể thêm hoặc xóa phần tử). </a:t>
            </a:r>
            <a:endParaRPr lang="en-US" dirty="0">
              <a:latin typeface="Calibri (Body)"/>
            </a:endParaRPr>
          </a:p>
          <a:p>
            <a:r>
              <a:rPr lang="vi-VN" dirty="0">
                <a:latin typeface="Calibri (Body)"/>
              </a:rPr>
              <a:t>Cách tạo </a:t>
            </a:r>
            <a:r>
              <a:rPr lang="vi-VN" dirty="0" err="1">
                <a:latin typeface="Calibri (Body)"/>
              </a:rPr>
              <a:t>set</a:t>
            </a:r>
            <a:r>
              <a:rPr lang="vi-VN" dirty="0">
                <a:latin typeface="Calibri (Body)"/>
              </a:rPr>
              <a:t>:</a:t>
            </a:r>
          </a:p>
          <a:p>
            <a:pPr lvl="1"/>
            <a:r>
              <a:rPr lang="vi-VN" dirty="0">
                <a:latin typeface="Calibri (Body)"/>
              </a:rPr>
              <a:t>Bạn có thể tạo </a:t>
            </a:r>
            <a:r>
              <a:rPr lang="vi-VN" dirty="0" err="1">
                <a:latin typeface="Calibri (Body)"/>
              </a:rPr>
              <a:t>set</a:t>
            </a:r>
            <a:r>
              <a:rPr lang="vi-VN" dirty="0">
                <a:latin typeface="Calibri (Body)"/>
              </a:rPr>
              <a:t> bằng cách sử dụng dấu ngoặc nhọn {} hoặc hàm </a:t>
            </a:r>
            <a:r>
              <a:rPr lang="vi-VN" dirty="0" err="1">
                <a:latin typeface="Calibri (Body)"/>
              </a:rPr>
              <a:t>set</a:t>
            </a:r>
            <a:r>
              <a:rPr lang="vi-VN" dirty="0">
                <a:latin typeface="Calibri (Body)"/>
              </a:rPr>
              <a:t>()</a:t>
            </a:r>
            <a:endParaRPr lang="en-US" dirty="0">
              <a:latin typeface="Calibri (Body)"/>
            </a:endParaRPr>
          </a:p>
        </p:txBody>
      </p:sp>
      <p:pic>
        <p:nvPicPr>
          <p:cNvPr id="7" name="Picture 6"/>
          <p:cNvPicPr>
            <a:picLocks noChangeAspect="1"/>
          </p:cNvPicPr>
          <p:nvPr/>
        </p:nvPicPr>
        <p:blipFill>
          <a:blip r:embed="rId2"/>
          <a:stretch>
            <a:fillRect/>
          </a:stretch>
        </p:blipFill>
        <p:spPr>
          <a:xfrm>
            <a:off x="7641409" y="1260020"/>
            <a:ext cx="4452729" cy="1966505"/>
          </a:xfrm>
          <a:prstGeom prst="rect">
            <a:avLst/>
          </a:prstGeom>
        </p:spPr>
      </p:pic>
    </p:spTree>
    <p:extLst>
      <p:ext uri="{BB962C8B-B14F-4D97-AF65-F5344CB8AC3E}">
        <p14:creationId xmlns:p14="http://schemas.microsoft.com/office/powerpoint/2010/main" val="4286085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Ứng dụng của set</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vi-VN">
                <a:latin typeface="Calibri (Body)"/>
              </a:rPr>
              <a:t>set rất hữu ích trong các trường hợp sau:</a:t>
            </a:r>
          </a:p>
          <a:p>
            <a:r>
              <a:rPr lang="vi-VN">
                <a:latin typeface="Calibri (Body)"/>
              </a:rPr>
              <a:t>Loại bỏ trùng lặp:</a:t>
            </a:r>
          </a:p>
          <a:p>
            <a:pPr lvl="1"/>
            <a:r>
              <a:rPr lang="vi-VN">
                <a:latin typeface="Calibri (Body)"/>
              </a:rPr>
              <a:t>Khi bạn cần đảm bảo một tập hợp các phần tử không chứa các phần tử trùng lặp, set là lựa chọn tốt.</a:t>
            </a:r>
          </a:p>
          <a:p>
            <a:r>
              <a:rPr lang="vi-VN">
                <a:latin typeface="Calibri (Body)"/>
              </a:rPr>
              <a:t>Thực hiện các phép toán tập hợp:</a:t>
            </a:r>
          </a:p>
          <a:p>
            <a:pPr lvl="1"/>
            <a:r>
              <a:rPr lang="vi-VN">
                <a:latin typeface="Calibri (Body)"/>
              </a:rPr>
              <a:t>set giúp bạn dễ dàng thực hiện các phép toán như hợp, giao, hiệu, rất hữu ích trong nhiều bài toán.</a:t>
            </a:r>
          </a:p>
          <a:p>
            <a:r>
              <a:rPr lang="vi-VN">
                <a:latin typeface="Calibri (Body)"/>
              </a:rPr>
              <a:t>Kiểm tra sự tồn tại của phần tử:</a:t>
            </a:r>
          </a:p>
          <a:p>
            <a:pPr lvl="1"/>
            <a:r>
              <a:rPr lang="vi-VN">
                <a:latin typeface="Calibri (Body)"/>
              </a:rPr>
              <a:t>Bạn có thể sử dụng toán tử in để kiểm tra xem một phần tử có thuộc set hay không.</a:t>
            </a:r>
            <a:endParaRPr lang="en-US">
              <a:latin typeface="Calibri (Body)"/>
            </a:endParaRPr>
          </a:p>
        </p:txBody>
      </p:sp>
    </p:spTree>
    <p:extLst>
      <p:ext uri="{BB962C8B-B14F-4D97-AF65-F5344CB8AC3E}">
        <p14:creationId xmlns:p14="http://schemas.microsoft.com/office/powerpoint/2010/main" val="4208461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CÁC PHÉP TOÁN TRÊN SET</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vi-VN">
                <a:latin typeface="Calibri (Body)"/>
              </a:rPr>
              <a:t>Các phép toán trên set:</a:t>
            </a:r>
          </a:p>
          <a:p>
            <a:r>
              <a:rPr lang="vi-VN">
                <a:latin typeface="Calibri (Body)"/>
              </a:rPr>
              <a:t>Python cung cấp các phép toán tập hợp như: </a:t>
            </a:r>
          </a:p>
          <a:p>
            <a:r>
              <a:rPr lang="vi-VN">
                <a:latin typeface="Calibri (Body)"/>
              </a:rPr>
              <a:t>Hợp: union() hoặc | (ví dụ: set1 | set2)</a:t>
            </a:r>
          </a:p>
          <a:p>
            <a:r>
              <a:rPr lang="vi-VN">
                <a:latin typeface="Calibri (Body)"/>
              </a:rPr>
              <a:t>Giao: intersection() hoặc &amp; (ví dụ: set1 &amp; set2)</a:t>
            </a:r>
          </a:p>
          <a:p>
            <a:r>
              <a:rPr lang="vi-VN">
                <a:latin typeface="Calibri (Body)"/>
              </a:rPr>
              <a:t>Hiệu: difference() hoặc - (ví dụ: set1 - set2)</a:t>
            </a:r>
          </a:p>
          <a:p>
            <a:r>
              <a:rPr lang="vi-VN">
                <a:latin typeface="Calibri (Body)"/>
              </a:rPr>
              <a:t>Hiệu đối xứng: symmetric_difference() hoặc ^</a:t>
            </a:r>
            <a:endParaRPr lang="en-US">
              <a:latin typeface="Calibri (Body)"/>
            </a:endParaRPr>
          </a:p>
          <a:p>
            <a:r>
              <a:rPr lang="en-US">
                <a:latin typeface="Calibri (Body)"/>
              </a:rPr>
              <a:t>Phần tử lớn nhất: max(Set1)</a:t>
            </a:r>
          </a:p>
          <a:p>
            <a:r>
              <a:rPr lang="en-US">
                <a:latin typeface="Calibri (Body)"/>
              </a:rPr>
              <a:t>Phần tử nhỏ nhất: min(Set1)</a:t>
            </a:r>
          </a:p>
          <a:p>
            <a:r>
              <a:rPr lang="en-US">
                <a:latin typeface="Calibri (Body)"/>
              </a:rPr>
              <a:t>Xóa tất cả set: Set1.clear()</a:t>
            </a:r>
          </a:p>
        </p:txBody>
      </p:sp>
      <p:pic>
        <p:nvPicPr>
          <p:cNvPr id="5" name="Picture 4"/>
          <p:cNvPicPr>
            <a:picLocks noChangeAspect="1"/>
          </p:cNvPicPr>
          <p:nvPr/>
        </p:nvPicPr>
        <p:blipFill>
          <a:blip r:embed="rId2"/>
          <a:stretch>
            <a:fillRect/>
          </a:stretch>
        </p:blipFill>
        <p:spPr>
          <a:xfrm>
            <a:off x="6039802" y="1110344"/>
            <a:ext cx="5802850" cy="2978330"/>
          </a:xfrm>
          <a:prstGeom prst="rect">
            <a:avLst/>
          </a:prstGeom>
        </p:spPr>
      </p:pic>
    </p:spTree>
    <p:extLst>
      <p:ext uri="{BB962C8B-B14F-4D97-AF65-F5344CB8AC3E}">
        <p14:creationId xmlns:p14="http://schemas.microsoft.com/office/powerpoint/2010/main" val="3886737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Kiểm tra set</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en-US">
                <a:latin typeface="Calibri (Body)"/>
              </a:rPr>
              <a:t>Kiểm tra một đối tượng x có nằm trong 1 Set1 hay không</a:t>
            </a:r>
            <a:endParaRPr lang="vi-VN">
              <a:latin typeface="Calibri (Body)"/>
            </a:endParaRPr>
          </a:p>
          <a:p>
            <a:pPr lvl="1"/>
            <a:r>
              <a:rPr lang="en-US">
                <a:latin typeface="Calibri (Body)"/>
              </a:rPr>
              <a:t>If x in Set1</a:t>
            </a:r>
          </a:p>
          <a:p>
            <a:pPr marL="457200" lvl="1" indent="0">
              <a:buNone/>
            </a:pPr>
            <a:endParaRPr lang="en-US">
              <a:latin typeface="Calibri (Body)"/>
            </a:endParaRPr>
          </a:p>
          <a:p>
            <a:r>
              <a:rPr lang="en-US">
                <a:latin typeface="Calibri (Body)"/>
              </a:rPr>
              <a:t>Kiểm tra Set2 có là tập con (subset) của Set1 không</a:t>
            </a:r>
          </a:p>
          <a:p>
            <a:pPr lvl="1"/>
            <a:r>
              <a:rPr lang="en-US">
                <a:latin typeface="Calibri (Body)"/>
              </a:rPr>
              <a:t>If Set2.issubset(Set1)</a:t>
            </a:r>
          </a:p>
          <a:p>
            <a:pPr lvl="1"/>
            <a:endParaRPr lang="en-US">
              <a:latin typeface="Calibri (Body)"/>
            </a:endParaRPr>
          </a:p>
        </p:txBody>
      </p:sp>
    </p:spTree>
    <p:extLst>
      <p:ext uri="{BB962C8B-B14F-4D97-AF65-F5344CB8AC3E}">
        <p14:creationId xmlns:p14="http://schemas.microsoft.com/office/powerpoint/2010/main" val="1007744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THAY ĐỔI SET</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vi-VN">
                <a:latin typeface="Calibri (Body)"/>
              </a:rPr>
              <a:t>Phương thức .add()</a:t>
            </a:r>
          </a:p>
          <a:p>
            <a:pPr lvl="1"/>
            <a:r>
              <a:rPr lang="vi-VN">
                <a:latin typeface="Calibri (Body)"/>
              </a:rPr>
              <a:t>Phương thức sử dụng để thêm một phần tử vào tập hợp.</a:t>
            </a:r>
            <a:endParaRPr lang="en-US">
              <a:latin typeface="Calibri (Body)"/>
            </a:endParaRPr>
          </a:p>
          <a:p>
            <a:pPr lvl="1"/>
            <a:endParaRPr lang="en-US">
              <a:latin typeface="Calibri (Body)"/>
            </a:endParaRPr>
          </a:p>
          <a:p>
            <a:pPr lvl="1"/>
            <a:endParaRPr lang="en-US">
              <a:latin typeface="Calibri (Body)"/>
            </a:endParaRPr>
          </a:p>
          <a:p>
            <a:pPr marL="457200" lvl="1" indent="0">
              <a:buNone/>
            </a:pPr>
            <a:endParaRPr lang="en-US">
              <a:latin typeface="Calibri (Body)"/>
            </a:endParaRPr>
          </a:p>
          <a:p>
            <a:r>
              <a:rPr lang="vi-VN">
                <a:latin typeface="Calibri (Body)"/>
              </a:rPr>
              <a:t>Phương thức .remove()</a:t>
            </a:r>
          </a:p>
          <a:p>
            <a:pPr lvl="1"/>
            <a:r>
              <a:rPr lang="vi-VN">
                <a:latin typeface="Calibri (Body)"/>
              </a:rPr>
              <a:t>Loại bỏ một phần tử trong tập hợp..</a:t>
            </a:r>
            <a:endParaRPr lang="en-US">
              <a:latin typeface="Calibri (Body)"/>
            </a:endParaRPr>
          </a:p>
          <a:p>
            <a:pPr lvl="1"/>
            <a:endParaRPr lang="en-US">
              <a:latin typeface="Calibri (Body)"/>
            </a:endParaRPr>
          </a:p>
        </p:txBody>
      </p:sp>
      <p:pic>
        <p:nvPicPr>
          <p:cNvPr id="6" name="Picture 5"/>
          <p:cNvPicPr>
            <a:picLocks noChangeAspect="1"/>
          </p:cNvPicPr>
          <p:nvPr/>
        </p:nvPicPr>
        <p:blipFill>
          <a:blip r:embed="rId2"/>
          <a:stretch>
            <a:fillRect/>
          </a:stretch>
        </p:blipFill>
        <p:spPr>
          <a:xfrm>
            <a:off x="3460750" y="2035085"/>
            <a:ext cx="4581525" cy="723900"/>
          </a:xfrm>
          <a:prstGeom prst="rect">
            <a:avLst/>
          </a:prstGeom>
        </p:spPr>
      </p:pic>
      <p:pic>
        <p:nvPicPr>
          <p:cNvPr id="8" name="Picture 7"/>
          <p:cNvPicPr>
            <a:picLocks noChangeAspect="1"/>
          </p:cNvPicPr>
          <p:nvPr/>
        </p:nvPicPr>
        <p:blipFill>
          <a:blip r:embed="rId3"/>
          <a:stretch>
            <a:fillRect/>
          </a:stretch>
        </p:blipFill>
        <p:spPr>
          <a:xfrm>
            <a:off x="3608343" y="4035470"/>
            <a:ext cx="3876675" cy="1190625"/>
          </a:xfrm>
          <a:prstGeom prst="rect">
            <a:avLst/>
          </a:prstGeom>
        </p:spPr>
      </p:pic>
    </p:spTree>
    <p:extLst>
      <p:ext uri="{BB962C8B-B14F-4D97-AF65-F5344CB8AC3E}">
        <p14:creationId xmlns:p14="http://schemas.microsoft.com/office/powerpoint/2010/main" val="356420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1</a:t>
            </a:r>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vi-VN" altLang="vi-VN">
                <a:latin typeface="Calibri (Body)"/>
                <a:cs typeface="Calibri" panose="020F0502020204030204" pitchFamily="34" charset="0"/>
              </a:rPr>
              <a:t>Tạo một set chứa các phần tử: "apple", "banana", "cherry" và in ra.</a:t>
            </a:r>
            <a:endParaRPr lang="en-US">
              <a:latin typeface="Calibri (Body)"/>
              <a:cs typeface="Calibri" panose="020F0502020204030204" pitchFamily="34" charset="0"/>
            </a:endParaRPr>
          </a:p>
          <a:p>
            <a:pPr lvl="1"/>
            <a:endParaRPr lang="en-US">
              <a:latin typeface="Calibri (Body)"/>
            </a:endParaRPr>
          </a:p>
          <a:p>
            <a:pPr marL="457200" lvl="1" indent="0">
              <a:buNone/>
            </a:pPr>
            <a:endParaRPr lang="en-US">
              <a:latin typeface="Calibri (Body)"/>
            </a:endParaRPr>
          </a:p>
        </p:txBody>
      </p:sp>
      <p:pic>
        <p:nvPicPr>
          <p:cNvPr id="7" name="Hình ảnh 4" descr="Ảnh có chứa văn bản, Phông chữ, ảnh chụp màn hình, hàng&#10;&#10;Nội dung do AI tạo ra có thể không chính xác.">
            <a:extLst>
              <a:ext uri="{FF2B5EF4-FFF2-40B4-BE49-F238E27FC236}">
                <a16:creationId xmlns:a16="http://schemas.microsoft.com/office/drawing/2014/main" id="{96E363C6-0168-F121-A3D3-4225DFAC8513}"/>
              </a:ext>
            </a:extLst>
          </p:cNvPr>
          <p:cNvPicPr>
            <a:picLocks noChangeAspect="1"/>
          </p:cNvPicPr>
          <p:nvPr/>
        </p:nvPicPr>
        <p:blipFill>
          <a:blip r:embed="rId2"/>
          <a:srcRect t="1" b="46812"/>
          <a:stretch>
            <a:fillRect/>
          </a:stretch>
        </p:blipFill>
        <p:spPr>
          <a:xfrm>
            <a:off x="1050884" y="1861274"/>
            <a:ext cx="5258477" cy="703522"/>
          </a:xfrm>
          <a:prstGeom prst="rect">
            <a:avLst/>
          </a:prstGeom>
        </p:spPr>
      </p:pic>
    </p:spTree>
    <p:extLst>
      <p:ext uri="{BB962C8B-B14F-4D97-AF65-F5344CB8AC3E}">
        <p14:creationId xmlns:p14="http://schemas.microsoft.com/office/powerpoint/2010/main" val="840764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2</a:t>
            </a:r>
          </a:p>
        </p:txBody>
      </p:sp>
      <p:sp>
        <p:nvSpPr>
          <p:cNvPr id="3" name="Content Placeholder 2"/>
          <p:cNvSpPr>
            <a:spLocks noGrp="1"/>
          </p:cNvSpPr>
          <p:nvPr>
            <p:ph idx="1"/>
          </p:nvPr>
        </p:nvSpPr>
        <p:spPr>
          <a:xfrm>
            <a:off x="685802" y="1110345"/>
            <a:ext cx="8092438" cy="5610418"/>
          </a:xfrm>
        </p:spPr>
        <p:txBody>
          <a:bodyPr anchor="t" anchorCtr="0">
            <a:normAutofit/>
          </a:bodyPr>
          <a:lstStyle/>
          <a:p>
            <a:pPr marL="0" indent="0" defTabSz="914400" eaLnBrk="0" fontAlgn="base" hangingPunct="0">
              <a:spcBef>
                <a:spcPct val="0"/>
              </a:spcBef>
              <a:spcAft>
                <a:spcPct val="0"/>
              </a:spcAft>
              <a:buClrTx/>
              <a:buSzTx/>
              <a:buNone/>
            </a:pPr>
            <a:r>
              <a:rPr lang="vi-VN" altLang="vi-VN">
                <a:latin typeface="Calibri (Body)"/>
              </a:rPr>
              <a:t>Cho 3 phần tử "apple", "banana", "cherry"</a:t>
            </a:r>
          </a:p>
          <a:p>
            <a:pPr marL="0" lvl="0" indent="0" defTabSz="914400" eaLnBrk="0" fontAlgn="base" hangingPunct="0">
              <a:spcBef>
                <a:spcPct val="0"/>
              </a:spcBef>
              <a:spcAft>
                <a:spcPct val="0"/>
              </a:spcAft>
              <a:buClrTx/>
              <a:buSzTx/>
              <a:buNone/>
            </a:pPr>
            <a:r>
              <a:rPr lang="vi-VN" altLang="vi-VN">
                <a:latin typeface="Calibri (Body)"/>
              </a:rPr>
              <a:t>Kiểm tra "banana" có trong set hay không. </a:t>
            </a:r>
          </a:p>
          <a:p>
            <a:pPr lvl="1"/>
            <a:endParaRPr lang="en-US">
              <a:latin typeface="Calibri (Body)"/>
            </a:endParaRPr>
          </a:p>
          <a:p>
            <a:pPr marL="457200" lvl="1" indent="0">
              <a:buNone/>
            </a:pPr>
            <a:endParaRPr lang="en-US">
              <a:latin typeface="Calibri (Body)"/>
            </a:endParaRPr>
          </a:p>
        </p:txBody>
      </p:sp>
      <p:pic>
        <p:nvPicPr>
          <p:cNvPr id="5" name="Chỗ dành sẵn cho Nội dung 4" descr="Ảnh có chứa văn bản, Phông chữ, ảnh chụp màn hình, hàng&#10;&#10;Nội dung do AI tạo ra có thể không chính xác.">
            <a:extLst>
              <a:ext uri="{FF2B5EF4-FFF2-40B4-BE49-F238E27FC236}">
                <a16:creationId xmlns:a16="http://schemas.microsoft.com/office/drawing/2014/main" id="{478E7584-EDCE-0642-3C95-9BDF540BFBD8}"/>
              </a:ext>
            </a:extLst>
          </p:cNvPr>
          <p:cNvPicPr>
            <a:picLocks noChangeAspect="1"/>
          </p:cNvPicPr>
          <p:nvPr/>
        </p:nvPicPr>
        <p:blipFill>
          <a:blip r:embed="rId2"/>
          <a:stretch>
            <a:fillRect/>
          </a:stretch>
        </p:blipFill>
        <p:spPr>
          <a:xfrm>
            <a:off x="685802" y="2100602"/>
            <a:ext cx="7948748" cy="2099330"/>
          </a:xfrm>
          <a:prstGeom prst="rect">
            <a:avLst/>
          </a:prstGeom>
        </p:spPr>
      </p:pic>
      <p:pic>
        <p:nvPicPr>
          <p:cNvPr id="6" name="Hình ảnh 6" descr="Ảnh có chứa ảnh chụp màn hình, Phông chữ, hàng, văn bản&#10;&#10;Nội dung do AI tạo ra có thể không chính xác.">
            <a:extLst>
              <a:ext uri="{FF2B5EF4-FFF2-40B4-BE49-F238E27FC236}">
                <a16:creationId xmlns:a16="http://schemas.microsoft.com/office/drawing/2014/main" id="{87949830-C504-95DC-5C06-A7529E2DE259}"/>
              </a:ext>
            </a:extLst>
          </p:cNvPr>
          <p:cNvPicPr>
            <a:picLocks noChangeAspect="1"/>
          </p:cNvPicPr>
          <p:nvPr/>
        </p:nvPicPr>
        <p:blipFill>
          <a:blip r:embed="rId3"/>
          <a:stretch>
            <a:fillRect/>
          </a:stretch>
        </p:blipFill>
        <p:spPr>
          <a:xfrm>
            <a:off x="685801" y="4840685"/>
            <a:ext cx="6116267" cy="997008"/>
          </a:xfrm>
          <a:prstGeom prst="rect">
            <a:avLst/>
          </a:prstGeom>
        </p:spPr>
      </p:pic>
    </p:spTree>
    <p:extLst>
      <p:ext uri="{BB962C8B-B14F-4D97-AF65-F5344CB8AC3E}">
        <p14:creationId xmlns:p14="http://schemas.microsoft.com/office/powerpoint/2010/main" val="711406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3</a:t>
            </a:r>
          </a:p>
        </p:txBody>
      </p:sp>
      <p:sp>
        <p:nvSpPr>
          <p:cNvPr id="3" name="Content Placeholder 2"/>
          <p:cNvSpPr>
            <a:spLocks noGrp="1"/>
          </p:cNvSpPr>
          <p:nvPr>
            <p:ph idx="1"/>
          </p:nvPr>
        </p:nvSpPr>
        <p:spPr>
          <a:xfrm>
            <a:off x="685802" y="1110345"/>
            <a:ext cx="8092438" cy="5610418"/>
          </a:xfrm>
        </p:spPr>
        <p:txBody>
          <a:bodyPr anchor="t" anchorCtr="0">
            <a:normAutofit/>
          </a:bodyPr>
          <a:lstStyle/>
          <a:p>
            <a:pPr marL="0" indent="0" defTabSz="914400" eaLnBrk="0" fontAlgn="base" hangingPunct="0">
              <a:spcBef>
                <a:spcPct val="0"/>
              </a:spcBef>
              <a:spcAft>
                <a:spcPct val="0"/>
              </a:spcAft>
              <a:buClrTx/>
              <a:buSzTx/>
              <a:buNone/>
            </a:pPr>
            <a:r>
              <a:rPr lang="vi-VN" altLang="vi-VN">
                <a:latin typeface="Calibri (Body)"/>
              </a:rPr>
              <a:t>Cho 3 phần tử "apple", "banana", "cherry"</a:t>
            </a:r>
          </a:p>
          <a:p>
            <a:pPr marL="0" lvl="0" indent="0" defTabSz="914400" eaLnBrk="0" fontAlgn="base" hangingPunct="0">
              <a:spcBef>
                <a:spcPct val="0"/>
              </a:spcBef>
              <a:spcAft>
                <a:spcPct val="0"/>
              </a:spcAft>
              <a:buClrTx/>
              <a:buSzTx/>
              <a:buNone/>
            </a:pPr>
            <a:r>
              <a:rPr lang="vi-VN" altLang="vi-VN">
                <a:latin typeface="Calibri (Body)"/>
              </a:rPr>
              <a:t>Thêm "orange" vào set.</a:t>
            </a:r>
            <a:endParaRPr lang="en-US" altLang="vi-VN">
              <a:latin typeface="Calibri (Body)"/>
            </a:endParaRPr>
          </a:p>
          <a:p>
            <a:pPr marL="0" indent="0" defTabSz="914400" eaLnBrk="0" fontAlgn="base" hangingPunct="0">
              <a:spcBef>
                <a:spcPct val="0"/>
              </a:spcBef>
              <a:spcAft>
                <a:spcPct val="0"/>
              </a:spcAft>
              <a:buClrTx/>
              <a:buSzTx/>
              <a:buNone/>
            </a:pPr>
            <a:r>
              <a:rPr lang="vi-VN" altLang="vi-VN">
                <a:latin typeface="Calibri (Body)"/>
              </a:rPr>
              <a:t>-Hướng dẫn dùng lệnh .add</a:t>
            </a:r>
          </a:p>
          <a:p>
            <a:pPr marL="0" lvl="0" indent="0" defTabSz="914400" eaLnBrk="0" fontAlgn="base" hangingPunct="0">
              <a:spcBef>
                <a:spcPct val="0"/>
              </a:spcBef>
              <a:spcAft>
                <a:spcPct val="0"/>
              </a:spcAft>
              <a:buClrTx/>
              <a:buSzTx/>
              <a:buNone/>
            </a:pPr>
            <a:r>
              <a:rPr lang="vi-VN" altLang="vi-VN">
                <a:latin typeface="Calibri (Body)"/>
              </a:rPr>
              <a:t> </a:t>
            </a:r>
            <a:endParaRPr lang="en-US" altLang="vi-VN">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457200" lvl="1" indent="0">
              <a:buNone/>
            </a:pPr>
            <a:endParaRPr lang="en-US">
              <a:latin typeface="Calibri (Body)"/>
            </a:endParaRPr>
          </a:p>
        </p:txBody>
      </p:sp>
      <p:pic>
        <p:nvPicPr>
          <p:cNvPr id="7" name="Chỗ dành sẵn cho Nội dung 8" descr="Ảnh có chứa văn bản, Phông chữ, ảnh chụp màn hình, hàng&#10;&#10;Nội dung do AI tạo ra có thể không chính xác.">
            <a:extLst>
              <a:ext uri="{FF2B5EF4-FFF2-40B4-BE49-F238E27FC236}">
                <a16:creationId xmlns:a16="http://schemas.microsoft.com/office/drawing/2014/main" id="{59EEAD0D-C672-BF20-6DA3-682F7CDC1E66}"/>
              </a:ext>
            </a:extLst>
          </p:cNvPr>
          <p:cNvPicPr>
            <a:picLocks noChangeAspect="1"/>
          </p:cNvPicPr>
          <p:nvPr/>
        </p:nvPicPr>
        <p:blipFill>
          <a:blip r:embed="rId2"/>
          <a:stretch>
            <a:fillRect/>
          </a:stretch>
        </p:blipFill>
        <p:spPr>
          <a:xfrm>
            <a:off x="685801" y="2065868"/>
            <a:ext cx="6720839" cy="1288024"/>
          </a:xfrm>
          <a:prstGeom prst="rect">
            <a:avLst/>
          </a:prstGeom>
        </p:spPr>
      </p:pic>
      <p:pic>
        <p:nvPicPr>
          <p:cNvPr id="8" name="Hình ảnh 10" descr="Ảnh có chứa văn bản, ảnh chụp màn hình, Phông chữ, hàng&#10;&#10;Nội dung do AI tạo ra có thể không chính xác.">
            <a:extLst>
              <a:ext uri="{FF2B5EF4-FFF2-40B4-BE49-F238E27FC236}">
                <a16:creationId xmlns:a16="http://schemas.microsoft.com/office/drawing/2014/main" id="{C7E644BB-2BBC-619C-EF0B-DD04B1AFFB55}"/>
              </a:ext>
            </a:extLst>
          </p:cNvPr>
          <p:cNvPicPr>
            <a:picLocks noChangeAspect="1"/>
          </p:cNvPicPr>
          <p:nvPr/>
        </p:nvPicPr>
        <p:blipFill>
          <a:blip r:embed="rId3"/>
          <a:stretch>
            <a:fillRect/>
          </a:stretch>
        </p:blipFill>
        <p:spPr>
          <a:xfrm>
            <a:off x="685801" y="3915554"/>
            <a:ext cx="6720840" cy="846519"/>
          </a:xfrm>
          <a:prstGeom prst="rect">
            <a:avLst/>
          </a:prstGeom>
        </p:spPr>
      </p:pic>
    </p:spTree>
    <p:extLst>
      <p:ext uri="{BB962C8B-B14F-4D97-AF65-F5344CB8AC3E}">
        <p14:creationId xmlns:p14="http://schemas.microsoft.com/office/powerpoint/2010/main" val="161713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4</a:t>
            </a:r>
          </a:p>
        </p:txBody>
      </p:sp>
      <p:sp>
        <p:nvSpPr>
          <p:cNvPr id="3" name="Content Placeholder 2"/>
          <p:cNvSpPr>
            <a:spLocks noGrp="1"/>
          </p:cNvSpPr>
          <p:nvPr>
            <p:ph idx="1"/>
          </p:nvPr>
        </p:nvSpPr>
        <p:spPr>
          <a:xfrm>
            <a:off x="685802" y="1110345"/>
            <a:ext cx="8092438" cy="5610418"/>
          </a:xfrm>
        </p:spPr>
        <p:txBody>
          <a:bodyPr anchor="t" anchorCtr="0">
            <a:normAutofit/>
          </a:bodyPr>
          <a:lstStyle/>
          <a:p>
            <a:pPr marL="0" lvl="0" indent="0" defTabSz="914400" eaLnBrk="0" fontAlgn="base" hangingPunct="0">
              <a:spcBef>
                <a:spcPct val="0"/>
              </a:spcBef>
              <a:spcAft>
                <a:spcPct val="0"/>
              </a:spcAft>
              <a:buClrTx/>
              <a:buSzTx/>
              <a:buNone/>
            </a:pPr>
            <a:r>
              <a:rPr lang="vi-VN" altLang="vi-VN">
                <a:latin typeface="Calibri (Body)"/>
              </a:rPr>
              <a:t>Thêm nhiều phần tử vào set</a:t>
            </a:r>
          </a:p>
          <a:p>
            <a:pPr marL="0" indent="0" defTabSz="914400" eaLnBrk="0" fontAlgn="base" hangingPunct="0">
              <a:spcBef>
                <a:spcPct val="0"/>
              </a:spcBef>
              <a:spcAft>
                <a:spcPct val="0"/>
              </a:spcAft>
              <a:buClrTx/>
              <a:buSzTx/>
              <a:buNone/>
            </a:pPr>
            <a:r>
              <a:rPr lang="vi-VN" altLang="vi-VN">
                <a:latin typeface="Calibri (Body)"/>
              </a:rPr>
              <a:t>Cho 3 phần tử "táo", "chuối", "cherry“</a:t>
            </a:r>
            <a:endParaRPr lang="en-US" altLang="vi-VN">
              <a:latin typeface="Calibri (Body)"/>
            </a:endParaRPr>
          </a:p>
          <a:p>
            <a:pPr marL="0" indent="0" defTabSz="914400" eaLnBrk="0" fontAlgn="base" hangingPunct="0">
              <a:spcBef>
                <a:spcPct val="0"/>
              </a:spcBef>
              <a:spcAft>
                <a:spcPct val="0"/>
              </a:spcAft>
              <a:buClrTx/>
              <a:buSzTx/>
              <a:buNone/>
            </a:pPr>
            <a:endParaRPr lang="vi-VN" altLang="vi-VN">
              <a:latin typeface="Calibri (Body)"/>
            </a:endParaRPr>
          </a:p>
          <a:p>
            <a:pPr marL="0" lvl="0" indent="0" defTabSz="914400" eaLnBrk="0" fontAlgn="base" hangingPunct="0">
              <a:spcBef>
                <a:spcPct val="0"/>
              </a:spcBef>
              <a:spcAft>
                <a:spcPct val="0"/>
              </a:spcAft>
              <a:buClrTx/>
              <a:buSzTx/>
              <a:buNone/>
            </a:pPr>
            <a:r>
              <a:rPr lang="vi-VN" altLang="vi-VN">
                <a:latin typeface="Calibri (Body)"/>
              </a:rPr>
              <a:t>Yêu cầu: Thêm "cam", "quýt" vào set.</a:t>
            </a:r>
          </a:p>
          <a:p>
            <a:pPr marL="0" indent="0" defTabSz="914400" eaLnBrk="0" fontAlgn="base" hangingPunct="0">
              <a:spcBef>
                <a:spcPct val="0"/>
              </a:spcBef>
              <a:spcAft>
                <a:spcPct val="0"/>
              </a:spcAft>
              <a:buClrTx/>
              <a:buSzTx/>
              <a:buNone/>
            </a:pPr>
            <a:r>
              <a:rPr lang="vi-VN" altLang="vi-VN">
                <a:latin typeface="Calibri (Body)"/>
              </a:rPr>
              <a:t>Hướng dẫn : dùng lệnh .update</a:t>
            </a: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457200" lvl="1" indent="0">
              <a:buNone/>
            </a:pPr>
            <a:endParaRPr lang="en-US">
              <a:latin typeface="Calibri (Body)"/>
            </a:endParaRPr>
          </a:p>
        </p:txBody>
      </p:sp>
      <p:pic>
        <p:nvPicPr>
          <p:cNvPr id="6" name="Chỗ dành sẵn cho Nội dung 4" descr="Ảnh có chứa văn bản, ảnh chụp màn hình, Phông chữ, hàng&#10;&#10;Nội dung do AI tạo ra có thể không chính xác.">
            <a:extLst>
              <a:ext uri="{FF2B5EF4-FFF2-40B4-BE49-F238E27FC236}">
                <a16:creationId xmlns:a16="http://schemas.microsoft.com/office/drawing/2014/main" id="{B88354B5-A6BF-FAA2-6CBF-63B5D7614E82}"/>
              </a:ext>
            </a:extLst>
          </p:cNvPr>
          <p:cNvPicPr>
            <a:picLocks noChangeAspect="1"/>
          </p:cNvPicPr>
          <p:nvPr/>
        </p:nvPicPr>
        <p:blipFill>
          <a:blip r:embed="rId2"/>
          <a:stretch>
            <a:fillRect/>
          </a:stretch>
        </p:blipFill>
        <p:spPr>
          <a:xfrm>
            <a:off x="685801" y="2840539"/>
            <a:ext cx="5479868" cy="1332940"/>
          </a:xfrm>
          <a:prstGeom prst="rect">
            <a:avLst/>
          </a:prstGeom>
        </p:spPr>
      </p:pic>
      <p:pic>
        <p:nvPicPr>
          <p:cNvPr id="9" name="Hình ảnh 6" descr="Ảnh có chứa văn bản, Phông chữ, ảnh chụp màn hình, hàng&#10;&#10;Nội dung do AI tạo ra có thể không chính xác.">
            <a:extLst>
              <a:ext uri="{FF2B5EF4-FFF2-40B4-BE49-F238E27FC236}">
                <a16:creationId xmlns:a16="http://schemas.microsoft.com/office/drawing/2014/main" id="{D1270466-38E0-FE99-AB7E-3EBC67D2BCA7}"/>
              </a:ext>
            </a:extLst>
          </p:cNvPr>
          <p:cNvPicPr>
            <a:picLocks noChangeAspect="1"/>
          </p:cNvPicPr>
          <p:nvPr/>
        </p:nvPicPr>
        <p:blipFill>
          <a:blip r:embed="rId3"/>
          <a:stretch>
            <a:fillRect/>
          </a:stretch>
        </p:blipFill>
        <p:spPr>
          <a:xfrm>
            <a:off x="685801" y="4715501"/>
            <a:ext cx="7517673" cy="935533"/>
          </a:xfrm>
          <a:prstGeom prst="rect">
            <a:avLst/>
          </a:prstGeom>
        </p:spPr>
      </p:pic>
    </p:spTree>
    <p:extLst>
      <p:ext uri="{BB962C8B-B14F-4D97-AF65-F5344CB8AC3E}">
        <p14:creationId xmlns:p14="http://schemas.microsoft.com/office/powerpoint/2010/main" val="2738342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5</a:t>
            </a:r>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vi-VN" altLang="vi-VN"/>
              <a:t>Cho 3 phần tử "apple", "banana", "cherry"</a:t>
            </a:r>
          </a:p>
          <a:p>
            <a:r>
              <a:rPr lang="vi-VN" altLang="vi-VN"/>
              <a:t>Yêu cầu: Xóa "banana" khỏi set</a:t>
            </a:r>
          </a:p>
          <a:p>
            <a:r>
              <a:rPr lang="vi-VN"/>
              <a:t>Hướng dẫn dùng lệnh .discard</a:t>
            </a: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457200" lvl="1" indent="0">
              <a:buNone/>
            </a:pPr>
            <a:endParaRPr lang="en-US">
              <a:latin typeface="Calibri (Body)"/>
            </a:endParaRPr>
          </a:p>
        </p:txBody>
      </p:sp>
      <p:pic>
        <p:nvPicPr>
          <p:cNvPr id="7" name="Chỗ dành sẵn cho Nội dung 4" descr="Ảnh có chứa văn bản, Phông chữ, ảnh chụp màn hình, màu trắng&#10;&#10;Nội dung do AI tạo ra có thể không chính xác.">
            <a:extLst>
              <a:ext uri="{FF2B5EF4-FFF2-40B4-BE49-F238E27FC236}">
                <a16:creationId xmlns:a16="http://schemas.microsoft.com/office/drawing/2014/main" id="{4FE134F0-B36A-6297-3EA5-179FB6AC4993}"/>
              </a:ext>
            </a:extLst>
          </p:cNvPr>
          <p:cNvPicPr>
            <a:picLocks noChangeAspect="1"/>
          </p:cNvPicPr>
          <p:nvPr/>
        </p:nvPicPr>
        <p:blipFill>
          <a:blip r:embed="rId2"/>
          <a:stretch>
            <a:fillRect/>
          </a:stretch>
        </p:blipFill>
        <p:spPr>
          <a:xfrm>
            <a:off x="685802" y="2512544"/>
            <a:ext cx="6159136" cy="1201783"/>
          </a:xfrm>
          <a:prstGeom prst="rect">
            <a:avLst/>
          </a:prstGeom>
        </p:spPr>
      </p:pic>
      <p:pic>
        <p:nvPicPr>
          <p:cNvPr id="8" name="Hình ảnh 6" descr="Ảnh có chứa văn bản, Phông chữ, hàng, màu trắng&#10;&#10;Nội dung do AI tạo ra có thể không chính xác.">
            <a:extLst>
              <a:ext uri="{FF2B5EF4-FFF2-40B4-BE49-F238E27FC236}">
                <a16:creationId xmlns:a16="http://schemas.microsoft.com/office/drawing/2014/main" id="{904FF112-3FCA-0FBB-63BB-C86707EB0C1C}"/>
              </a:ext>
            </a:extLst>
          </p:cNvPr>
          <p:cNvPicPr>
            <a:picLocks noChangeAspect="1"/>
          </p:cNvPicPr>
          <p:nvPr/>
        </p:nvPicPr>
        <p:blipFill>
          <a:blip r:embed="rId3"/>
          <a:stretch>
            <a:fillRect/>
          </a:stretch>
        </p:blipFill>
        <p:spPr>
          <a:xfrm>
            <a:off x="685801" y="4313756"/>
            <a:ext cx="3481250" cy="785593"/>
          </a:xfrm>
          <a:prstGeom prst="rect">
            <a:avLst/>
          </a:prstGeom>
        </p:spPr>
      </p:pic>
    </p:spTree>
    <p:extLst>
      <p:ext uri="{BB962C8B-B14F-4D97-AF65-F5344CB8AC3E}">
        <p14:creationId xmlns:p14="http://schemas.microsoft.com/office/powerpoint/2010/main" val="2207587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6: GIAO, HỢP, HIỆU GIỮA 2 SET</a:t>
            </a:r>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vi-VN" b="1"/>
              <a:t>Được biết: </a:t>
            </a:r>
            <a:r>
              <a:rPr lang="da-DK" b="1"/>
              <a:t>set1 </a:t>
            </a:r>
            <a:r>
              <a:rPr lang="vi-VN" b="1"/>
              <a:t>từ 1 đến 5, </a:t>
            </a:r>
            <a:r>
              <a:rPr lang="da-DK" b="1"/>
              <a:t>set2 </a:t>
            </a:r>
            <a:r>
              <a:rPr lang="vi-VN" b="1"/>
              <a:t>từ</a:t>
            </a:r>
            <a:r>
              <a:rPr lang="da-DK" b="1"/>
              <a:t> 4</a:t>
            </a:r>
            <a:r>
              <a:rPr lang="vi-VN" b="1"/>
              <a:t> đến</a:t>
            </a:r>
            <a:r>
              <a:rPr lang="da-DK" b="1"/>
              <a:t> </a:t>
            </a:r>
            <a:r>
              <a:rPr lang="vi-VN" b="1"/>
              <a:t>8.</a:t>
            </a:r>
          </a:p>
          <a:p>
            <a:r>
              <a:rPr lang="vi-VN" b="1"/>
              <a:t>Yêu cầu:</a:t>
            </a:r>
            <a:r>
              <a:rPr lang="vi-VN"/>
              <a:t> In giao, hợp, hiệu của hai tập hợp</a:t>
            </a:r>
          </a:p>
          <a:p>
            <a:r>
              <a:rPr lang="vi-VN"/>
              <a:t>Hướng dẫn</a:t>
            </a:r>
          </a:p>
          <a:p>
            <a:r>
              <a:rPr lang="vi-VN"/>
              <a:t>Giao dùng : &amp;</a:t>
            </a:r>
            <a:r>
              <a:rPr lang="en-US"/>
              <a:t> (hoặc intersection)</a:t>
            </a:r>
            <a:endParaRPr lang="vi-VN"/>
          </a:p>
          <a:p>
            <a:r>
              <a:rPr lang="vi-VN"/>
              <a:t>Hợp dùng : |</a:t>
            </a:r>
            <a:r>
              <a:rPr lang="en-US"/>
              <a:t> (hoặc union)</a:t>
            </a:r>
            <a:endParaRPr lang="vi-VN"/>
          </a:p>
          <a:p>
            <a:r>
              <a:rPr lang="vi-VN"/>
              <a:t>Hiệu dùng : -</a:t>
            </a:r>
            <a:r>
              <a:rPr lang="en-US"/>
              <a:t> (hoặc difference)</a:t>
            </a:r>
          </a:p>
          <a:p>
            <a:r>
              <a:rPr lang="vi-VN"/>
              <a:t>symmetric_difference</a:t>
            </a: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457200" lvl="1" indent="0">
              <a:buNone/>
            </a:pPr>
            <a:endParaRPr lang="en-US">
              <a:latin typeface="Calibri (Body)"/>
            </a:endParaRPr>
          </a:p>
        </p:txBody>
      </p:sp>
      <p:pic>
        <p:nvPicPr>
          <p:cNvPr id="6" name="Chỗ dành sẵn cho Nội dung 4" descr="Ảnh có chứa văn bản, Phông chữ, ảnh chụp màn hình, hàng&#10;&#10;Nội dung do AI tạo ra có thể không chính xác.">
            <a:extLst>
              <a:ext uri="{FF2B5EF4-FFF2-40B4-BE49-F238E27FC236}">
                <a16:creationId xmlns:a16="http://schemas.microsoft.com/office/drawing/2014/main" id="{22F62CB7-2691-C70A-DC62-478A56D92A09}"/>
              </a:ext>
            </a:extLst>
          </p:cNvPr>
          <p:cNvPicPr>
            <a:picLocks noChangeAspect="1"/>
          </p:cNvPicPr>
          <p:nvPr/>
        </p:nvPicPr>
        <p:blipFill>
          <a:blip r:embed="rId2"/>
          <a:stretch>
            <a:fillRect/>
          </a:stretch>
        </p:blipFill>
        <p:spPr>
          <a:xfrm>
            <a:off x="5479869" y="2136299"/>
            <a:ext cx="6080760" cy="1995667"/>
          </a:xfrm>
          <a:prstGeom prst="rect">
            <a:avLst/>
          </a:prstGeom>
        </p:spPr>
      </p:pic>
      <p:pic>
        <p:nvPicPr>
          <p:cNvPr id="9" name="Hình ảnh 6" descr="Ảnh có chứa văn bản, Phông chữ, chữ viết tay, hàng&#10;&#10;Nội dung do AI tạo ra có thể không chính xác.">
            <a:extLst>
              <a:ext uri="{FF2B5EF4-FFF2-40B4-BE49-F238E27FC236}">
                <a16:creationId xmlns:a16="http://schemas.microsoft.com/office/drawing/2014/main" id="{0D60E23E-B49D-AEF7-5DE1-A9B0C135B88B}"/>
              </a:ext>
            </a:extLst>
          </p:cNvPr>
          <p:cNvPicPr>
            <a:picLocks noChangeAspect="1"/>
          </p:cNvPicPr>
          <p:nvPr/>
        </p:nvPicPr>
        <p:blipFill>
          <a:blip r:embed="rId3"/>
          <a:stretch>
            <a:fillRect/>
          </a:stretch>
        </p:blipFill>
        <p:spPr>
          <a:xfrm>
            <a:off x="6629447" y="4713468"/>
            <a:ext cx="4931182" cy="1299233"/>
          </a:xfrm>
          <a:prstGeom prst="rect">
            <a:avLst/>
          </a:prstGeom>
        </p:spPr>
      </p:pic>
    </p:spTree>
    <p:extLst>
      <p:ext uri="{BB962C8B-B14F-4D97-AF65-F5344CB8AC3E}">
        <p14:creationId xmlns:p14="http://schemas.microsoft.com/office/powerpoint/2010/main" val="200408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874828" cy="725186"/>
          </a:xfrm>
        </p:spPr>
        <p:txBody>
          <a:bodyPr>
            <a:normAutofit/>
          </a:bodyPr>
          <a:lstStyle/>
          <a:p>
            <a:r>
              <a:rPr lang="en-US" b="1"/>
              <a:t>Bài tập 7: LOẠI BỎ PHẦN TỬ TRÙNG TRONG DANH SÁCH</a:t>
            </a:r>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vi-VN">
                <a:latin typeface="Calibri (Body)"/>
              </a:rPr>
              <a:t>Numbers =  [1, 2, 2, 3, 4, 4, 5]</a:t>
            </a:r>
          </a:p>
          <a:p>
            <a:r>
              <a:rPr lang="vi-VN">
                <a:latin typeface="Calibri (Body)"/>
              </a:rPr>
              <a:t>Yêu cầu: Dùng set để loại bỏ phần tử trùng lặp trong list.</a:t>
            </a: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0" lvl="0" indent="0" defTabSz="914400" eaLnBrk="0" fontAlgn="base" hangingPunct="0">
              <a:spcBef>
                <a:spcPct val="0"/>
              </a:spcBef>
              <a:spcAft>
                <a:spcPct val="0"/>
              </a:spcAft>
              <a:buClrTx/>
              <a:buSzTx/>
              <a:buNone/>
            </a:pPr>
            <a:endParaRPr lang="en-US">
              <a:latin typeface="Calibri (Body)"/>
            </a:endParaRPr>
          </a:p>
          <a:p>
            <a:pPr marL="457200" lvl="1" indent="0">
              <a:buNone/>
            </a:pPr>
            <a:endParaRPr lang="en-US">
              <a:latin typeface="Calibri (Body)"/>
            </a:endParaRPr>
          </a:p>
        </p:txBody>
      </p:sp>
      <p:pic>
        <p:nvPicPr>
          <p:cNvPr id="7" name="Chỗ dành sẵn cho Nội dung 4" descr="Ảnh có chứa văn bản, Phông chữ, ảnh chụp màn hình, hàng&#10;&#10;Nội dung do AI tạo ra có thể không chính xác.">
            <a:extLst>
              <a:ext uri="{FF2B5EF4-FFF2-40B4-BE49-F238E27FC236}">
                <a16:creationId xmlns:a16="http://schemas.microsoft.com/office/drawing/2014/main" id="{18312692-5C20-4405-B281-8F5B29142312}"/>
              </a:ext>
            </a:extLst>
          </p:cNvPr>
          <p:cNvPicPr>
            <a:picLocks noChangeAspect="1"/>
          </p:cNvPicPr>
          <p:nvPr/>
        </p:nvPicPr>
        <p:blipFill>
          <a:blip r:embed="rId2"/>
          <a:stretch>
            <a:fillRect/>
          </a:stretch>
        </p:blipFill>
        <p:spPr>
          <a:xfrm>
            <a:off x="685801" y="2144244"/>
            <a:ext cx="5519056" cy="1218101"/>
          </a:xfrm>
          <a:prstGeom prst="rect">
            <a:avLst/>
          </a:prstGeom>
        </p:spPr>
      </p:pic>
      <p:pic>
        <p:nvPicPr>
          <p:cNvPr id="8" name="Hình ảnh 6" descr="Ảnh có chứa Phông chữ, chữ viết tay, thiết kế&#10;&#10;Nội dung do AI tạo ra có thể không chính xác.">
            <a:extLst>
              <a:ext uri="{FF2B5EF4-FFF2-40B4-BE49-F238E27FC236}">
                <a16:creationId xmlns:a16="http://schemas.microsoft.com/office/drawing/2014/main" id="{FB7044DF-32A9-293F-5599-0C209BB2B917}"/>
              </a:ext>
            </a:extLst>
          </p:cNvPr>
          <p:cNvPicPr>
            <a:picLocks noChangeAspect="1"/>
          </p:cNvPicPr>
          <p:nvPr/>
        </p:nvPicPr>
        <p:blipFill>
          <a:blip r:embed="rId3"/>
          <a:stretch>
            <a:fillRect/>
          </a:stretch>
        </p:blipFill>
        <p:spPr>
          <a:xfrm>
            <a:off x="685801" y="3982141"/>
            <a:ext cx="2331719" cy="828206"/>
          </a:xfrm>
          <a:prstGeom prst="rect">
            <a:avLst/>
          </a:prstGeom>
        </p:spPr>
      </p:pic>
    </p:spTree>
    <p:extLst>
      <p:ext uri="{BB962C8B-B14F-4D97-AF65-F5344CB8AC3E}">
        <p14:creationId xmlns:p14="http://schemas.microsoft.com/office/powerpoint/2010/main" val="2517156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874828" cy="725186"/>
          </a:xfrm>
        </p:spPr>
        <p:txBody>
          <a:bodyPr>
            <a:normAutofit/>
          </a:bodyPr>
          <a:lstStyle/>
          <a:p>
            <a:r>
              <a:rPr lang="en-US" b="1"/>
              <a:t>Bài tập 8: TÌM 3 PHẦN TỬ LỚN NHẤT TRONG SET</a:t>
            </a:r>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en-US" dirty="0" err="1">
                <a:latin typeface="Calibri (Body)"/>
              </a:rPr>
              <a:t>Tạo</a:t>
            </a:r>
            <a:r>
              <a:rPr lang="en-US" dirty="0">
                <a:latin typeface="Calibri (Body)"/>
              </a:rPr>
              <a:t> 1 set </a:t>
            </a:r>
            <a:r>
              <a:rPr lang="en-US" dirty="0" err="1">
                <a:latin typeface="Calibri (Body)"/>
              </a:rPr>
              <a:t>gồm</a:t>
            </a:r>
            <a:r>
              <a:rPr lang="en-US" dirty="0">
                <a:latin typeface="Calibri (Body)"/>
              </a:rPr>
              <a:t> 10 </a:t>
            </a:r>
            <a:r>
              <a:rPr lang="en-US" dirty="0" err="1">
                <a:latin typeface="Calibri (Body)"/>
              </a:rPr>
              <a:t>phần</a:t>
            </a:r>
            <a:r>
              <a:rPr lang="en-US" dirty="0">
                <a:latin typeface="Calibri (Body)"/>
              </a:rPr>
              <a:t> </a:t>
            </a:r>
            <a:r>
              <a:rPr lang="en-US" dirty="0" err="1">
                <a:latin typeface="Calibri (Body)"/>
              </a:rPr>
              <a:t>tử</a:t>
            </a:r>
            <a:r>
              <a:rPr lang="en-US" dirty="0">
                <a:latin typeface="Calibri (Body)"/>
              </a:rPr>
              <a:t> </a:t>
            </a:r>
            <a:r>
              <a:rPr lang="en-US" dirty="0" err="1">
                <a:latin typeface="Calibri (Body)"/>
              </a:rPr>
              <a:t>là</a:t>
            </a:r>
            <a:r>
              <a:rPr lang="en-US" dirty="0">
                <a:latin typeface="Calibri (Body)"/>
              </a:rPr>
              <a:t> 10 </a:t>
            </a:r>
            <a:r>
              <a:rPr lang="en-US" dirty="0" err="1">
                <a:latin typeface="Calibri (Body)"/>
              </a:rPr>
              <a:t>số</a:t>
            </a:r>
            <a:r>
              <a:rPr lang="en-US" dirty="0">
                <a:latin typeface="Calibri (Body)"/>
              </a:rPr>
              <a:t> </a:t>
            </a:r>
            <a:r>
              <a:rPr lang="en-US" dirty="0" err="1">
                <a:latin typeface="Calibri (Body)"/>
              </a:rPr>
              <a:t>nguyên</a:t>
            </a:r>
            <a:r>
              <a:rPr lang="en-US" dirty="0">
                <a:latin typeface="Calibri (Body)"/>
              </a:rPr>
              <a:t> </a:t>
            </a:r>
            <a:r>
              <a:rPr lang="en-US" dirty="0" err="1">
                <a:latin typeface="Calibri (Body)"/>
              </a:rPr>
              <a:t>ngẫu</a:t>
            </a:r>
            <a:r>
              <a:rPr lang="en-US" dirty="0">
                <a:latin typeface="Calibri (Body)"/>
              </a:rPr>
              <a:t> </a:t>
            </a:r>
            <a:r>
              <a:rPr lang="en-US" dirty="0" err="1">
                <a:latin typeface="Calibri (Body)"/>
              </a:rPr>
              <a:t>nhiên</a:t>
            </a:r>
            <a:endParaRPr lang="en-US" dirty="0">
              <a:latin typeface="Calibri (Body)"/>
            </a:endParaRPr>
          </a:p>
          <a:p>
            <a:r>
              <a:rPr lang="en-US" dirty="0" err="1">
                <a:latin typeface="Calibri (Body)"/>
              </a:rPr>
              <a:t>Tìm</a:t>
            </a:r>
            <a:r>
              <a:rPr lang="en-US" dirty="0">
                <a:latin typeface="Calibri (Body)"/>
              </a:rPr>
              <a:t> 3 </a:t>
            </a:r>
            <a:r>
              <a:rPr lang="en-US" dirty="0" err="1">
                <a:latin typeface="Calibri (Body)"/>
              </a:rPr>
              <a:t>phần</a:t>
            </a:r>
            <a:r>
              <a:rPr lang="en-US" dirty="0">
                <a:latin typeface="Calibri (Body)"/>
              </a:rPr>
              <a:t> </a:t>
            </a:r>
            <a:r>
              <a:rPr lang="en-US" dirty="0" err="1">
                <a:latin typeface="Calibri (Body)"/>
              </a:rPr>
              <a:t>tử</a:t>
            </a:r>
            <a:r>
              <a:rPr lang="en-US" dirty="0">
                <a:latin typeface="Calibri (Body)"/>
              </a:rPr>
              <a:t> </a:t>
            </a:r>
            <a:r>
              <a:rPr lang="en-US" dirty="0" err="1">
                <a:latin typeface="Calibri (Body)"/>
              </a:rPr>
              <a:t>lớn</a:t>
            </a:r>
            <a:r>
              <a:rPr lang="en-US" dirty="0">
                <a:latin typeface="Calibri (Body)"/>
              </a:rPr>
              <a:t> </a:t>
            </a:r>
            <a:r>
              <a:rPr lang="en-US" dirty="0" err="1">
                <a:latin typeface="Calibri (Body)"/>
              </a:rPr>
              <a:t>nhất</a:t>
            </a:r>
            <a:r>
              <a:rPr lang="en-US" dirty="0">
                <a:latin typeface="Calibri (Body)"/>
              </a:rPr>
              <a:t> </a:t>
            </a:r>
            <a:r>
              <a:rPr lang="en-US" dirty="0" err="1">
                <a:latin typeface="Calibri (Body)"/>
              </a:rPr>
              <a:t>trong</a:t>
            </a:r>
            <a:r>
              <a:rPr lang="en-US" dirty="0">
                <a:latin typeface="Calibri (Body)"/>
              </a:rPr>
              <a:t> set </a:t>
            </a:r>
            <a:r>
              <a:rPr lang="en-US" dirty="0" err="1">
                <a:latin typeface="Calibri (Body)"/>
              </a:rPr>
              <a:t>đó</a:t>
            </a:r>
            <a:endParaRPr lang="en-US" dirty="0">
              <a:latin typeface="Calibri (Body)"/>
            </a:endParaRPr>
          </a:p>
          <a:p>
            <a:pPr marL="0" lvl="0" indent="0" defTabSz="914400" eaLnBrk="0" fontAlgn="base" hangingPunct="0">
              <a:spcBef>
                <a:spcPct val="0"/>
              </a:spcBef>
              <a:spcAft>
                <a:spcPct val="0"/>
              </a:spcAft>
              <a:buClrTx/>
              <a:buSzTx/>
              <a:buNone/>
            </a:pPr>
            <a:endParaRPr lang="en-US" dirty="0">
              <a:latin typeface="Calibri (Body)"/>
            </a:endParaRPr>
          </a:p>
          <a:p>
            <a:pPr marL="0" lvl="0" indent="0" defTabSz="914400" eaLnBrk="0" fontAlgn="base" hangingPunct="0">
              <a:spcBef>
                <a:spcPct val="0"/>
              </a:spcBef>
              <a:spcAft>
                <a:spcPct val="0"/>
              </a:spcAft>
              <a:buClrTx/>
              <a:buSzTx/>
              <a:buNone/>
            </a:pPr>
            <a:endParaRPr lang="en-US" dirty="0">
              <a:latin typeface="Calibri (Body)"/>
            </a:endParaRPr>
          </a:p>
          <a:p>
            <a:pPr marL="457200" lvl="1" indent="0">
              <a:buNone/>
            </a:pPr>
            <a:endParaRPr lang="en-US" dirty="0">
              <a:latin typeface="Calibri (Body)"/>
            </a:endParaRPr>
          </a:p>
        </p:txBody>
      </p:sp>
    </p:spTree>
    <p:extLst>
      <p:ext uri="{BB962C8B-B14F-4D97-AF65-F5344CB8AC3E}">
        <p14:creationId xmlns:p14="http://schemas.microsoft.com/office/powerpoint/2010/main" val="510842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874828" cy="725186"/>
          </a:xfrm>
        </p:spPr>
        <p:txBody>
          <a:bodyPr>
            <a:normAutofit/>
          </a:bodyPr>
          <a:lstStyle/>
          <a:p>
            <a:r>
              <a:rPr lang="en-US" b="1" dirty="0" err="1"/>
              <a:t>Bài</a:t>
            </a:r>
            <a:r>
              <a:rPr lang="en-US" b="1" dirty="0"/>
              <a:t> </a:t>
            </a:r>
            <a:r>
              <a:rPr lang="en-US" b="1" dirty="0" err="1"/>
              <a:t>tập</a:t>
            </a:r>
            <a:r>
              <a:rPr lang="en-US" b="1" dirty="0"/>
              <a:t> 9: </a:t>
            </a:r>
            <a:r>
              <a:rPr lang="en-US" b="1" dirty="0" err="1"/>
              <a:t>Tìm</a:t>
            </a:r>
            <a:r>
              <a:rPr lang="en-US" b="1" dirty="0"/>
              <a:t> </a:t>
            </a:r>
            <a:r>
              <a:rPr lang="en-US" b="1" dirty="0" err="1"/>
              <a:t>bạn</a:t>
            </a:r>
            <a:r>
              <a:rPr lang="en-US" b="1" dirty="0"/>
              <a:t> </a:t>
            </a:r>
            <a:r>
              <a:rPr lang="en-US" b="1" dirty="0" err="1"/>
              <a:t>chung</a:t>
            </a:r>
            <a:r>
              <a:rPr lang="en-US" b="1" dirty="0"/>
              <a:t> </a:t>
            </a:r>
            <a:r>
              <a:rPr lang="en-US" b="1" dirty="0" err="1"/>
              <a:t>của</a:t>
            </a:r>
            <a:r>
              <a:rPr lang="en-US" b="1" dirty="0"/>
              <a:t> 2 </a:t>
            </a:r>
            <a:r>
              <a:rPr lang="en-US" b="1" dirty="0" err="1"/>
              <a:t>người</a:t>
            </a:r>
            <a:endParaRPr lang="en-US" b="1" dirty="0"/>
          </a:p>
        </p:txBody>
      </p:sp>
      <p:sp>
        <p:nvSpPr>
          <p:cNvPr id="3" name="Content Placeholder 2"/>
          <p:cNvSpPr>
            <a:spLocks noGrp="1"/>
          </p:cNvSpPr>
          <p:nvPr>
            <p:ph idx="1"/>
          </p:nvPr>
        </p:nvSpPr>
        <p:spPr>
          <a:xfrm>
            <a:off x="685802" y="1110345"/>
            <a:ext cx="8092438" cy="5610418"/>
          </a:xfrm>
        </p:spPr>
        <p:txBody>
          <a:bodyPr anchor="t" anchorCtr="0">
            <a:normAutofit/>
          </a:bodyPr>
          <a:lstStyle/>
          <a:p>
            <a:r>
              <a:rPr lang="en-US" dirty="0" err="1"/>
              <a:t>Dưới</a:t>
            </a:r>
            <a:r>
              <a:rPr lang="en-US" dirty="0"/>
              <a:t> </a:t>
            </a:r>
            <a:r>
              <a:rPr lang="en-US" dirty="0" err="1"/>
              <a:t>đây</a:t>
            </a:r>
            <a:r>
              <a:rPr lang="en-US" dirty="0"/>
              <a:t> </a:t>
            </a:r>
            <a:r>
              <a:rPr lang="en-US" dirty="0" err="1"/>
              <a:t>là</a:t>
            </a:r>
            <a:r>
              <a:rPr lang="en-US" dirty="0"/>
              <a:t> </a:t>
            </a:r>
            <a:r>
              <a:rPr lang="en-US" dirty="0" err="1"/>
              <a:t>danh</a:t>
            </a:r>
            <a:r>
              <a:rPr lang="en-US" dirty="0"/>
              <a:t> </a:t>
            </a:r>
            <a:r>
              <a:rPr lang="en-US" dirty="0" err="1"/>
              <a:t>sách</a:t>
            </a:r>
            <a:r>
              <a:rPr lang="en-US" dirty="0"/>
              <a:t> </a:t>
            </a:r>
            <a:r>
              <a:rPr lang="en-US" dirty="0" err="1"/>
              <a:t>bạn</a:t>
            </a:r>
            <a:r>
              <a:rPr lang="en-US" dirty="0"/>
              <a:t> </a:t>
            </a:r>
            <a:r>
              <a:rPr lang="en-US" dirty="0" err="1"/>
              <a:t>bè</a:t>
            </a:r>
            <a:r>
              <a:rPr lang="en-US" dirty="0"/>
              <a:t> </a:t>
            </a:r>
            <a:r>
              <a:rPr lang="en-US" dirty="0" err="1"/>
              <a:t>của</a:t>
            </a:r>
            <a:r>
              <a:rPr lang="en-US" dirty="0"/>
              <a:t> </a:t>
            </a:r>
            <a:r>
              <a:rPr lang="en-US" dirty="0" err="1"/>
              <a:t>Đăng</a:t>
            </a:r>
            <a:r>
              <a:rPr lang="en-US" dirty="0"/>
              <a:t> </a:t>
            </a:r>
            <a:r>
              <a:rPr lang="en-US" dirty="0" err="1"/>
              <a:t>và</a:t>
            </a:r>
            <a:r>
              <a:rPr lang="en-US" dirty="0"/>
              <a:t> </a:t>
            </a:r>
            <a:r>
              <a:rPr lang="en-US" dirty="0" err="1"/>
              <a:t>Đông</a:t>
            </a:r>
            <a:endParaRPr lang="en-US" dirty="0"/>
          </a:p>
          <a:p>
            <a:r>
              <a:rPr lang="en-US" dirty="0"/>
              <a:t>Dang</a:t>
            </a:r>
            <a:r>
              <a:rPr lang="vi-VN" dirty="0"/>
              <a:t>_friends = {"</a:t>
            </a:r>
            <a:r>
              <a:rPr lang="en-US" dirty="0"/>
              <a:t> Phong</a:t>
            </a:r>
            <a:r>
              <a:rPr lang="vi-VN" dirty="0"/>
              <a:t>", "Mai", "Lan", "Tuấn", "Đức"} </a:t>
            </a:r>
            <a:endParaRPr lang="en-US" dirty="0"/>
          </a:p>
          <a:p>
            <a:r>
              <a:rPr lang="en-US" dirty="0"/>
              <a:t>Dong</a:t>
            </a:r>
            <a:r>
              <a:rPr lang="vi-VN" dirty="0"/>
              <a:t>_friends = {“</a:t>
            </a:r>
            <a:r>
              <a:rPr lang="en-US" dirty="0"/>
              <a:t>Phong</a:t>
            </a:r>
            <a:r>
              <a:rPr lang="vi-VN" dirty="0"/>
              <a:t>", "Đức", "Cường", "Trang", "Nam"}</a:t>
            </a:r>
            <a:endParaRPr lang="en-US" dirty="0">
              <a:latin typeface="Calibri (Body)"/>
            </a:endParaRPr>
          </a:p>
          <a:p>
            <a:r>
              <a:rPr lang="en-US" dirty="0" err="1">
                <a:latin typeface="Calibri (Body)"/>
              </a:rPr>
              <a:t>Tìm</a:t>
            </a:r>
            <a:r>
              <a:rPr lang="en-US" dirty="0">
                <a:latin typeface="Calibri (Body)"/>
              </a:rPr>
              <a:t> </a:t>
            </a:r>
            <a:r>
              <a:rPr lang="en-US" dirty="0" err="1">
                <a:latin typeface="Calibri (Body)"/>
              </a:rPr>
              <a:t>bạn</a:t>
            </a:r>
            <a:r>
              <a:rPr lang="en-US" dirty="0">
                <a:latin typeface="Calibri (Body)"/>
              </a:rPr>
              <a:t> </a:t>
            </a:r>
            <a:r>
              <a:rPr lang="en-US" dirty="0" err="1">
                <a:latin typeface="Calibri (Body)"/>
              </a:rPr>
              <a:t>chung</a:t>
            </a:r>
            <a:r>
              <a:rPr lang="en-US" dirty="0">
                <a:latin typeface="Calibri (Body)"/>
              </a:rPr>
              <a:t> </a:t>
            </a:r>
            <a:r>
              <a:rPr lang="en-US" dirty="0" err="1">
                <a:latin typeface="Calibri (Body)"/>
              </a:rPr>
              <a:t>của</a:t>
            </a:r>
            <a:r>
              <a:rPr lang="en-US" dirty="0">
                <a:latin typeface="Calibri (Body)"/>
              </a:rPr>
              <a:t> 2 </a:t>
            </a:r>
            <a:r>
              <a:rPr lang="en-US" dirty="0" err="1">
                <a:latin typeface="Calibri (Body)"/>
              </a:rPr>
              <a:t>bạn</a:t>
            </a:r>
            <a:endParaRPr lang="en-US" dirty="0">
              <a:latin typeface="Calibri (Body)"/>
            </a:endParaRPr>
          </a:p>
          <a:p>
            <a:r>
              <a:rPr lang="en-US" dirty="0" err="1">
                <a:latin typeface="Calibri (Body)"/>
              </a:rPr>
              <a:t>Tìm</a:t>
            </a:r>
            <a:r>
              <a:rPr lang="en-US" dirty="0">
                <a:latin typeface="Calibri (Body)"/>
              </a:rPr>
              <a:t> </a:t>
            </a:r>
            <a:r>
              <a:rPr lang="en-US" dirty="0" err="1">
                <a:latin typeface="Calibri (Body)"/>
              </a:rPr>
              <a:t>bạn</a:t>
            </a:r>
            <a:r>
              <a:rPr lang="en-US" dirty="0">
                <a:latin typeface="Calibri (Body)"/>
              </a:rPr>
              <a:t> </a:t>
            </a:r>
            <a:r>
              <a:rPr lang="en-US" dirty="0" err="1">
                <a:latin typeface="Calibri (Body)"/>
              </a:rPr>
              <a:t>của</a:t>
            </a:r>
            <a:r>
              <a:rPr lang="en-US" dirty="0">
                <a:latin typeface="Calibri (Body)"/>
              </a:rPr>
              <a:t> </a:t>
            </a:r>
            <a:r>
              <a:rPr lang="en-US" dirty="0" err="1">
                <a:latin typeface="Calibri (Body)"/>
              </a:rPr>
              <a:t>bạn</a:t>
            </a:r>
            <a:r>
              <a:rPr lang="en-US" dirty="0">
                <a:latin typeface="Calibri (Body)"/>
              </a:rPr>
              <a:t> </a:t>
            </a:r>
            <a:r>
              <a:rPr lang="en-US" dirty="0" err="1">
                <a:latin typeface="Calibri (Body)"/>
              </a:rPr>
              <a:t>Đăng</a:t>
            </a:r>
            <a:r>
              <a:rPr lang="en-US" dirty="0">
                <a:latin typeface="Calibri (Body)"/>
              </a:rPr>
              <a:t> </a:t>
            </a:r>
            <a:r>
              <a:rPr lang="en-US" dirty="0" err="1">
                <a:latin typeface="Calibri (Body)"/>
              </a:rPr>
              <a:t>mà</a:t>
            </a:r>
            <a:r>
              <a:rPr lang="en-US" dirty="0">
                <a:latin typeface="Calibri (Body)"/>
              </a:rPr>
              <a:t> </a:t>
            </a:r>
            <a:r>
              <a:rPr lang="en-US" dirty="0" err="1">
                <a:latin typeface="Calibri (Body)"/>
              </a:rPr>
              <a:t>bạn</a:t>
            </a:r>
            <a:r>
              <a:rPr lang="en-US" dirty="0">
                <a:latin typeface="Calibri (Body)"/>
              </a:rPr>
              <a:t> </a:t>
            </a:r>
            <a:r>
              <a:rPr lang="en-US" dirty="0" err="1">
                <a:latin typeface="Calibri (Body)"/>
              </a:rPr>
              <a:t>Đông</a:t>
            </a:r>
            <a:r>
              <a:rPr lang="en-US" dirty="0">
                <a:latin typeface="Calibri (Body)"/>
              </a:rPr>
              <a:t> </a:t>
            </a:r>
            <a:r>
              <a:rPr lang="en-US" dirty="0" err="1">
                <a:latin typeface="Calibri (Body)"/>
              </a:rPr>
              <a:t>không</a:t>
            </a:r>
            <a:r>
              <a:rPr lang="en-US" dirty="0">
                <a:latin typeface="Calibri (Body)"/>
              </a:rPr>
              <a:t> </a:t>
            </a:r>
            <a:r>
              <a:rPr lang="en-US" dirty="0" err="1">
                <a:latin typeface="Calibri (Body)"/>
              </a:rPr>
              <a:t>có</a:t>
            </a:r>
            <a:endParaRPr lang="en-US" dirty="0">
              <a:latin typeface="Calibri (Body)"/>
            </a:endParaRPr>
          </a:p>
          <a:p>
            <a:r>
              <a:rPr lang="en-US" dirty="0" err="1">
                <a:latin typeface="Calibri (Body)"/>
              </a:rPr>
              <a:t>Tìm</a:t>
            </a:r>
            <a:r>
              <a:rPr lang="en-US" dirty="0">
                <a:latin typeface="Calibri (Body)"/>
              </a:rPr>
              <a:t> </a:t>
            </a:r>
            <a:r>
              <a:rPr lang="en-US" dirty="0" err="1">
                <a:latin typeface="Calibri (Body)"/>
              </a:rPr>
              <a:t>bạn</a:t>
            </a:r>
            <a:r>
              <a:rPr lang="en-US" dirty="0">
                <a:latin typeface="Calibri (Body)"/>
              </a:rPr>
              <a:t> </a:t>
            </a:r>
            <a:r>
              <a:rPr lang="en-US" dirty="0" err="1">
                <a:latin typeface="Calibri (Body)"/>
              </a:rPr>
              <a:t>của</a:t>
            </a:r>
            <a:r>
              <a:rPr lang="en-US" dirty="0">
                <a:latin typeface="Calibri (Body)"/>
              </a:rPr>
              <a:t> </a:t>
            </a:r>
            <a:r>
              <a:rPr lang="en-US" dirty="0" err="1">
                <a:latin typeface="Calibri (Body)"/>
              </a:rPr>
              <a:t>cả</a:t>
            </a:r>
            <a:r>
              <a:rPr lang="en-US" dirty="0">
                <a:latin typeface="Calibri (Body)"/>
              </a:rPr>
              <a:t> 2 </a:t>
            </a:r>
            <a:r>
              <a:rPr lang="en-US" dirty="0" err="1">
                <a:latin typeface="Calibri (Body)"/>
              </a:rPr>
              <a:t>nhưng</a:t>
            </a:r>
            <a:r>
              <a:rPr lang="en-US" dirty="0">
                <a:latin typeface="Calibri (Body)"/>
              </a:rPr>
              <a:t> </a:t>
            </a:r>
            <a:r>
              <a:rPr lang="en-US" dirty="0" err="1">
                <a:latin typeface="Calibri (Body)"/>
              </a:rPr>
              <a:t>không</a:t>
            </a:r>
            <a:r>
              <a:rPr lang="en-US" dirty="0">
                <a:latin typeface="Calibri (Body)"/>
              </a:rPr>
              <a:t> </a:t>
            </a:r>
            <a:r>
              <a:rPr lang="en-US" dirty="0" err="1">
                <a:latin typeface="Calibri (Body)"/>
              </a:rPr>
              <a:t>phải</a:t>
            </a:r>
            <a:r>
              <a:rPr lang="en-US" dirty="0">
                <a:latin typeface="Calibri (Body)"/>
              </a:rPr>
              <a:t> </a:t>
            </a:r>
            <a:r>
              <a:rPr lang="en-US" dirty="0" err="1">
                <a:latin typeface="Calibri (Body)"/>
              </a:rPr>
              <a:t>bạn</a:t>
            </a:r>
            <a:r>
              <a:rPr lang="en-US" dirty="0">
                <a:latin typeface="Calibri (Body)"/>
              </a:rPr>
              <a:t> </a:t>
            </a:r>
            <a:r>
              <a:rPr lang="en-US" dirty="0" err="1">
                <a:latin typeface="Calibri (Body)"/>
              </a:rPr>
              <a:t>chung</a:t>
            </a:r>
            <a:r>
              <a:rPr lang="en-US" dirty="0">
                <a:latin typeface="Calibri (Body)"/>
              </a:rPr>
              <a:t> (</a:t>
            </a:r>
            <a:r>
              <a:rPr lang="en-US" dirty="0" err="1">
                <a:latin typeface="Calibri (Body)"/>
              </a:rPr>
              <a:t>Sử</a:t>
            </a:r>
            <a:r>
              <a:rPr lang="en-US" dirty="0">
                <a:latin typeface="Calibri (Body)"/>
              </a:rPr>
              <a:t> </a:t>
            </a:r>
            <a:r>
              <a:rPr lang="en-US" dirty="0" err="1">
                <a:latin typeface="Calibri (Body)"/>
              </a:rPr>
              <a:t>dụng</a:t>
            </a:r>
            <a:r>
              <a:rPr lang="en-US" dirty="0">
                <a:latin typeface="Calibri (Body)"/>
              </a:rPr>
              <a:t> </a:t>
            </a:r>
            <a:r>
              <a:rPr lang="en-US" dirty="0" err="1">
                <a:latin typeface="Calibri (Body)"/>
              </a:rPr>
              <a:t>hiệu</a:t>
            </a:r>
            <a:r>
              <a:rPr lang="en-US" dirty="0">
                <a:latin typeface="Calibri (Body)"/>
              </a:rPr>
              <a:t> </a:t>
            </a:r>
            <a:r>
              <a:rPr lang="en-US" dirty="0" err="1">
                <a:latin typeface="Calibri (Body)"/>
              </a:rPr>
              <a:t>đối</a:t>
            </a:r>
            <a:r>
              <a:rPr lang="en-US" dirty="0">
                <a:latin typeface="Calibri (Body)"/>
              </a:rPr>
              <a:t> </a:t>
            </a:r>
            <a:r>
              <a:rPr lang="en-US" dirty="0" err="1">
                <a:latin typeface="Calibri (Body)"/>
              </a:rPr>
              <a:t>xứng</a:t>
            </a:r>
            <a:r>
              <a:rPr lang="en-US" dirty="0">
                <a:latin typeface="Calibri (Body)"/>
              </a:rPr>
              <a:t>)</a:t>
            </a:r>
          </a:p>
        </p:txBody>
      </p:sp>
    </p:spTree>
    <p:extLst>
      <p:ext uri="{BB962C8B-B14F-4D97-AF65-F5344CB8AC3E}">
        <p14:creationId xmlns:p14="http://schemas.microsoft.com/office/powerpoint/2010/main" val="5730000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3665</TotalTime>
  <Words>901</Words>
  <Application>Microsoft Office PowerPoint</Application>
  <PresentationFormat>Widescreen</PresentationFormat>
  <Paragraphs>91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(Body)</vt:lpstr>
      <vt:lpstr>Calibri Light</vt:lpstr>
      <vt:lpstr>Celestial</vt:lpstr>
      <vt:lpstr>LẬP TRÌNH PYTHON</vt:lpstr>
      <vt:lpstr>PYTHON SET - TẬP HỢP</vt:lpstr>
      <vt:lpstr>Ứng dụng của set</vt:lpstr>
      <vt:lpstr>CÁC PHÉP TOÁN TRÊN SET</vt:lpstr>
      <vt:lpstr>Kiểm tra set</vt:lpstr>
      <vt:lpstr>THAY ĐỔI SET</vt:lpstr>
      <vt:lpstr>Bài tập 1</vt:lpstr>
      <vt:lpstr>Bài tập 2</vt:lpstr>
      <vt:lpstr>Bài tập 3</vt:lpstr>
      <vt:lpstr>Bài tập 4</vt:lpstr>
      <vt:lpstr>Bài tập 5</vt:lpstr>
      <vt:lpstr>Bài tập 6: GIAO, HỢP, HIỆU GIỮA 2 SET</vt:lpstr>
      <vt:lpstr>Bài tập 7: LOẠI BỎ PHẦN TỬ TRÙNG TRONG DANH SÁCH</vt:lpstr>
      <vt:lpstr>Bài tập 8: TÌM 3 PHẦN TỬ LỚN NHẤT TRONG SET</vt:lpstr>
      <vt:lpstr>Bài tập 9: Tìm bạn chung của 2 người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SCRATCH</dc:title>
  <dc:creator>Duc Tung</dc:creator>
  <cp:lastModifiedBy>Administrator</cp:lastModifiedBy>
  <cp:revision>131</cp:revision>
  <dcterms:created xsi:type="dcterms:W3CDTF">2023-07-04T14:52:20Z</dcterms:created>
  <dcterms:modified xsi:type="dcterms:W3CDTF">2026-01-11T09:07:08Z</dcterms:modified>
</cp:coreProperties>
</file>