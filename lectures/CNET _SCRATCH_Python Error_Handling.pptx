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0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LẬP TRÌNH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CON ĐƯỜNG TRỞ THÀNH LẬP TRÌNH VIÊN PYTHON CHUYÊN NGHIỆP</a:t>
            </a:r>
          </a:p>
        </p:txBody>
      </p:sp>
    </p:spTree>
    <p:extLst>
      <p:ext uri="{BB962C8B-B14F-4D97-AF65-F5344CB8AC3E}">
        <p14:creationId xmlns:p14="http://schemas.microsoft.com/office/powerpoint/2010/main" val="12186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85158"/>
            <a:ext cx="10131425" cy="725186"/>
          </a:xfrm>
        </p:spPr>
        <p:txBody>
          <a:bodyPr/>
          <a:lstStyle/>
          <a:p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lỗi</a:t>
            </a:r>
            <a:r>
              <a:rPr lang="en-US" b="1" dirty="0"/>
              <a:t> (error handling)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2" y="1110345"/>
            <a:ext cx="9606278" cy="5610418"/>
          </a:xfrm>
        </p:spPr>
        <p:txBody>
          <a:bodyPr anchor="t" anchorCtr="0">
            <a:normAutofit/>
          </a:bodyPr>
          <a:lstStyle/>
          <a:p>
            <a:r>
              <a:rPr lang="en-US" dirty="0" err="1">
                <a:latin typeface="Calibri (Body)"/>
              </a:rPr>
              <a:t>Tại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sao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cần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xử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lý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? </a:t>
            </a:r>
          </a:p>
          <a:p>
            <a:pPr lvl="1"/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cú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pháp</a:t>
            </a:r>
            <a:r>
              <a:rPr lang="en-US" dirty="0">
                <a:latin typeface="Calibri (Body)"/>
              </a:rPr>
              <a:t>: </a:t>
            </a:r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 do </a:t>
            </a:r>
            <a:r>
              <a:rPr lang="en-US" dirty="0" err="1">
                <a:latin typeface="Calibri (Body)"/>
              </a:rPr>
              <a:t>viết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sai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quy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tắc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trong</a:t>
            </a:r>
            <a:r>
              <a:rPr lang="en-US" dirty="0">
                <a:latin typeface="Calibri (Body)"/>
              </a:rPr>
              <a:t> Python (</a:t>
            </a:r>
            <a:r>
              <a:rPr lang="en-US" dirty="0" err="1">
                <a:latin typeface="Calibri (Body)"/>
              </a:rPr>
              <a:t>thiếu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dấu</a:t>
            </a:r>
            <a:r>
              <a:rPr lang="en-US" dirty="0">
                <a:latin typeface="Calibri (Body)"/>
              </a:rPr>
              <a:t> :, </a:t>
            </a:r>
            <a:r>
              <a:rPr lang="en-US" dirty="0" err="1">
                <a:latin typeface="Calibri (Body)"/>
              </a:rPr>
              <a:t>viết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sai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tên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hàm</a:t>
            </a:r>
            <a:r>
              <a:rPr lang="en-US" dirty="0">
                <a:latin typeface="Calibri (Body)"/>
              </a:rPr>
              <a:t>), </a:t>
            </a:r>
            <a:r>
              <a:rPr lang="en-US" dirty="0" err="1">
                <a:latin typeface="Calibri (Body)"/>
              </a:rPr>
              <a:t>chương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trình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sẽ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không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thể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chạy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được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ngay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từ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đầu</a:t>
            </a:r>
            <a:r>
              <a:rPr lang="en-US" dirty="0">
                <a:latin typeface="Calibri (Body)"/>
              </a:rPr>
              <a:t>.</a:t>
            </a:r>
          </a:p>
          <a:p>
            <a:pPr lvl="1"/>
            <a:r>
              <a:rPr lang="vi-VN" dirty="0">
                <a:latin typeface="Calibri (Body)"/>
              </a:rPr>
              <a:t>Ngoại lệ (Exception): Lỗi xảy ra khi chương trình đang chạy (ví dụ: chia cho số 0, nhập chữ vào ô số), khiến chương trình bị "văng" hoặc dừng đột ngột (crash)</a:t>
            </a:r>
            <a:r>
              <a:rPr lang="en-US" dirty="0">
                <a:latin typeface="Calibri (Body)"/>
              </a:rPr>
              <a:t>.</a:t>
            </a:r>
          </a:p>
          <a:p>
            <a:pPr lvl="1"/>
            <a:r>
              <a:rPr lang="vi-VN" dirty="0">
                <a:latin typeface="Calibri (Body)"/>
              </a:rPr>
              <a:t>Mục tiêu: Sử dụng cấu trúc try...except để </a:t>
            </a:r>
            <a:r>
              <a:rPr lang="en-US" dirty="0" err="1">
                <a:latin typeface="Calibri (Body)"/>
              </a:rPr>
              <a:t>bắt</a:t>
            </a:r>
            <a:r>
              <a:rPr lang="en-US" dirty="0">
                <a:latin typeface="Calibri (Body)"/>
              </a:rPr>
              <a:t> </a:t>
            </a:r>
            <a:r>
              <a:rPr lang="vi-VN" dirty="0">
                <a:latin typeface="Calibri (Body)"/>
              </a:rPr>
              <a:t>lỗi, giúp chương trình </a:t>
            </a:r>
            <a:r>
              <a:rPr lang="en-US" dirty="0" err="1">
                <a:latin typeface="Calibri (Body)"/>
              </a:rPr>
              <a:t>tiếp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tục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chạy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không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bị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dừng</a:t>
            </a:r>
            <a:r>
              <a:rPr lang="en-US" dirty="0">
                <a:latin typeface="Calibri (Body)"/>
              </a:rPr>
              <a:t>.</a:t>
            </a:r>
          </a:p>
          <a:p>
            <a:pPr lvl="1"/>
            <a:endParaRPr lang="en-US" dirty="0">
              <a:latin typeface="Calibri (Body)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5C77A88-D4C9-716D-C6D2-6FBA44613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computer error handling in python&#10;&#10;AI-generated content may be incorrect.">
            <a:extLst>
              <a:ext uri="{FF2B5EF4-FFF2-40B4-BE49-F238E27FC236}">
                <a16:creationId xmlns:a16="http://schemas.microsoft.com/office/drawing/2014/main" id="{C26EACF2-5B3E-E901-6729-4CBDA2470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063" y="3276599"/>
            <a:ext cx="49149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8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try…except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FC32-8DC4-2CF7-F37B-97089467A736}"/>
              </a:ext>
            </a:extLst>
          </p:cNvPr>
          <p:cNvSpPr txBox="1"/>
          <p:nvPr/>
        </p:nvSpPr>
        <p:spPr>
          <a:xfrm>
            <a:off x="924508" y="1545792"/>
            <a:ext cx="71532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Cú </a:t>
            </a:r>
            <a:r>
              <a:rPr lang="en-US" dirty="0" err="1">
                <a:latin typeface="Calibri (Body)"/>
              </a:rPr>
              <a:t>pháp</a:t>
            </a:r>
            <a:r>
              <a:rPr lang="en-US" dirty="0">
                <a:latin typeface="Calibri (Body)"/>
              </a:rPr>
              <a:t>:</a:t>
            </a:r>
          </a:p>
          <a:p>
            <a:pPr lvl="1"/>
            <a:r>
              <a:rPr lang="en-US" dirty="0">
                <a:latin typeface="Calibri (Body)"/>
              </a:rPr>
              <a:t>try:</a:t>
            </a:r>
          </a:p>
          <a:p>
            <a:pPr lvl="1"/>
            <a:r>
              <a:rPr lang="en-US" dirty="0">
                <a:latin typeface="Calibri (Body)"/>
              </a:rPr>
              <a:t>	#các </a:t>
            </a:r>
            <a:r>
              <a:rPr lang="en-US" dirty="0" err="1">
                <a:latin typeface="Calibri (Body)"/>
              </a:rPr>
              <a:t>lệnh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nguy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cơ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lỗi</a:t>
            </a:r>
            <a:endParaRPr lang="en-US" dirty="0">
              <a:latin typeface="Calibri (Body)"/>
            </a:endParaRPr>
          </a:p>
          <a:p>
            <a:pPr lvl="1"/>
            <a:r>
              <a:rPr lang="en-US" dirty="0">
                <a:latin typeface="Calibri (Body)"/>
              </a:rPr>
              <a:t>except &lt;</a:t>
            </a:r>
            <a:r>
              <a:rPr lang="en-US" dirty="0" err="1">
                <a:latin typeface="Calibri (Body)"/>
              </a:rPr>
              <a:t>tên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&gt;: </a:t>
            </a:r>
          </a:p>
          <a:p>
            <a:pPr lvl="1"/>
            <a:r>
              <a:rPr lang="en-US" dirty="0">
                <a:latin typeface="Calibri (Body)"/>
              </a:rPr>
              <a:t>	#lệnh </a:t>
            </a:r>
            <a:r>
              <a:rPr lang="en-US" dirty="0" err="1">
                <a:latin typeface="Calibri (Body)"/>
              </a:rPr>
              <a:t>sẽ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thực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hiện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nếu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dòng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lệnh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trong</a:t>
            </a:r>
            <a:r>
              <a:rPr lang="en-US" dirty="0">
                <a:latin typeface="Calibri (Body)"/>
              </a:rPr>
              <a:t> try </a:t>
            </a:r>
            <a:r>
              <a:rPr lang="en-US" dirty="0" err="1">
                <a:latin typeface="Calibri (Body)"/>
              </a:rPr>
              <a:t>lỗi</a:t>
            </a:r>
            <a:endParaRPr lang="en-US" dirty="0">
              <a:latin typeface="Calibri (Body)"/>
            </a:endParaRPr>
          </a:p>
          <a:p>
            <a:pPr lvl="1"/>
            <a:endParaRPr lang="en-US" dirty="0">
              <a:latin typeface="Calibri (Body)"/>
            </a:endParaRPr>
          </a:p>
          <a:p>
            <a:pPr lvl="1"/>
            <a:endParaRPr lang="en-US" dirty="0">
              <a:latin typeface="Calibri (Body)"/>
            </a:endParaRPr>
          </a:p>
          <a:p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Các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phổ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biến</a:t>
            </a:r>
            <a:r>
              <a:rPr lang="en-US" dirty="0">
                <a:latin typeface="Calibri (Body)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ValueError</a:t>
            </a:r>
            <a:r>
              <a:rPr lang="en-US" dirty="0">
                <a:latin typeface="Calibri (Body)"/>
              </a:rPr>
              <a:t>: </a:t>
            </a:r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ép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kiểu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sai</a:t>
            </a:r>
            <a:r>
              <a:rPr lang="en-US" dirty="0">
                <a:latin typeface="Calibri (Body)"/>
              </a:rPr>
              <a:t> (</a:t>
            </a:r>
            <a:r>
              <a:rPr lang="en-US" dirty="0" err="1">
                <a:latin typeface="Calibri (Body)"/>
              </a:rPr>
              <a:t>ví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</a:t>
            </a:r>
            <a:r>
              <a:rPr lang="en-US" dirty="0">
                <a:latin typeface="Calibri (Body)"/>
              </a:rPr>
              <a:t>: int("</a:t>
            </a:r>
            <a:r>
              <a:rPr lang="en-US" dirty="0" err="1">
                <a:latin typeface="Calibri (Body)"/>
              </a:rPr>
              <a:t>abc</a:t>
            </a:r>
            <a:r>
              <a:rPr lang="en-US" dirty="0">
                <a:latin typeface="Calibri (Body)"/>
              </a:rPr>
              <a:t>")).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ZeroDivisionError</a:t>
            </a:r>
            <a:r>
              <a:rPr lang="en-US" dirty="0">
                <a:latin typeface="Calibri (Body)"/>
              </a:rPr>
              <a:t>: </a:t>
            </a:r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khi</a:t>
            </a:r>
            <a:r>
              <a:rPr lang="en-US" dirty="0">
                <a:latin typeface="Calibri (Body)"/>
              </a:rPr>
              <a:t> chia </a:t>
            </a:r>
            <a:r>
              <a:rPr lang="en-US" dirty="0" err="1">
                <a:latin typeface="Calibri (Body)"/>
              </a:rPr>
              <a:t>một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số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cho</a:t>
            </a:r>
            <a:r>
              <a:rPr lang="en-US" dirty="0">
                <a:latin typeface="Calibri (Body)"/>
              </a:rPr>
              <a:t> 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TypeError</a:t>
            </a:r>
            <a:r>
              <a:rPr lang="en-US" dirty="0">
                <a:latin typeface="Calibri (Body)"/>
              </a:rPr>
              <a:t>: </a:t>
            </a:r>
            <a:r>
              <a:rPr lang="en-US" dirty="0" err="1">
                <a:latin typeface="Calibri (Body)"/>
              </a:rPr>
              <a:t>Lỗi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thực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hiện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phép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toán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sai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kiểu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liệu</a:t>
            </a:r>
            <a:r>
              <a:rPr lang="en-US" dirty="0">
                <a:latin typeface="Calibri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140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</a:t>
            </a:r>
            <a:r>
              <a:rPr lang="en-US" b="1" dirty="0" err="1"/>
              <a:t>minh</a:t>
            </a:r>
            <a:r>
              <a:rPr lang="en-US" b="1" dirty="0"/>
              <a:t> </a:t>
            </a:r>
            <a:r>
              <a:rPr lang="en-US" b="1" dirty="0" err="1"/>
              <a:t>họa</a:t>
            </a:r>
            <a:endParaRPr lang="en-US" b="1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1F99B1-4F6F-2BA4-934F-AD9ADF94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840" y="1246094"/>
            <a:ext cx="5147344" cy="436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2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592377"/>
            <a:ext cx="94472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1: Viết chương trình nhập 2 số a, b và tính a/b. Nếu người dùng nhập b = 0, sử dụng except ZeroDivisionError để in ra: "Không thể chia cho 0, mời nhập lại".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0F2A572-6F01-4DD3-40AF-C1BE62286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939867"/>
            <a:ext cx="1073486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000" dirty="0">
                <a:latin typeface="Arial" panose="020B0604020202020204" pitchFamily="34" charset="0"/>
              </a:rPr>
              <a:t>Bài 2: Viết chương trình yêu cầu nhập tuổi. Nếu người dùng nhập chữ (gây lỗi ValueError) hoặc nhập số âm, hãy in thông báo: "Vui lòng nhập tuổi là số nguyên dương".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763972-19A6-E806-2CF1-7EEED294B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99" y="4049907"/>
            <a:ext cx="1073486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000" dirty="0">
                <a:latin typeface="Arial" panose="020B0604020202020204" pitchFamily="34" charset="0"/>
              </a:rPr>
              <a:t>Bài 3: Cho danh sách data = ["10", "abc", "20", "5.5"]. Sử dụng vòng lặp và try...except để chuyển danh sách sang số nguyên. Nếu phần tử nào lỗi (như "abc" hoặc "5.5") thì bỏ qua hoặc gán bằng 0.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78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3923</TotalTime>
  <Words>359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(Body)</vt:lpstr>
      <vt:lpstr>Calibri Light</vt:lpstr>
      <vt:lpstr>Celestial</vt:lpstr>
      <vt:lpstr>LẬP TRÌNH PYTHON</vt:lpstr>
      <vt:lpstr>Kiểm soát và xử lý lỗi (error handling)</vt:lpstr>
      <vt:lpstr>Cấu trúc try…except</vt:lpstr>
      <vt:lpstr>Ví dụ minh họa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SCRATCH</dc:title>
  <dc:creator>Duc Tung</dc:creator>
  <cp:lastModifiedBy>Administrator</cp:lastModifiedBy>
  <cp:revision>166</cp:revision>
  <dcterms:created xsi:type="dcterms:W3CDTF">2023-07-04T14:52:20Z</dcterms:created>
  <dcterms:modified xsi:type="dcterms:W3CDTF">2026-03-27T09:08:43Z</dcterms:modified>
</cp:coreProperties>
</file>